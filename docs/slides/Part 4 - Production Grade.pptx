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need doing before the session, not during: sign in to GitHub from the terminal, and have a free Cloudflare account open. Everything else in this part runs from one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as Part 3: a clone of the previous folder with the production work on top. The repo’s own demo skill does the cloning, installing and tagging, which is worth a sentence: the workflow itself became a reusable skill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there is no server to secure, so the work is about the pipeline and the headers, not firewalls. Data still lives only in the user’s browser; that is a feature of the design from Part 1, not a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dry run the session read the architecture doc and the runbook first, then cloned the previous part into a new folder before touching anything. The plan it showed had nine steps; the audience should see that list before any file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 is the one step that depends on the network and on accounts. If it stalls, the headers can still be shown locally: the preview command serves the production build with the same headers, and the browser pane can read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sequence runs locally as one command, which is how the dry run checked itself before committing. Node version comes from one file that both the pipeline and the host read, so they never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Headers live in one file that the build copies into the output and the host reads from there. The dry run opened the production build in the browser pane and read every header back from the response, with no policy violations in the console and the fonts loaded. A good live beat: add an inline script tag to the page, run the unit tests, watch the headers test name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live beat that works: hand-edit an exported backup so one entry has a word where a number should be, import it, and show the entry is dropped while the rest loads. Before this part, that import would have loaded the broken entry and let the screen deal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review live on the uncommitted change; it takes about three minutes, which is a good moment to show the Actions tab or the headers while it works. If it returns a finding you did not expect, that is a better demo than a clean bill: fix it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live session use route A: it is click-through and the audience sees the address appear. Mention route B as what you would do for anything more than a personal tool. Both are written up step by step in the deployment guide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live address if the deploy worked, or on the Actions tab if it did not. Either way, the last word is the tag list: four tags, four recoverable checkpoints, one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1741185"/>
            <a:ext cx="7721581"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BUILDING WITH CLAUDE CODE · CAFFEINE TRACKER</a:t>
            </a:r>
            <a:endParaRPr lang="en-US" sz="1200" dirty="0"/>
          </a:p>
        </p:txBody>
      </p:sp>
      <p:sp>
        <p:nvSpPr>
          <p:cNvPr id="3" name="Text 1"/>
          <p:cNvSpPr/>
          <p:nvPr/>
        </p:nvSpPr>
        <p:spPr>
          <a:xfrm>
            <a:off x="812798" y="2141234"/>
            <a:ext cx="7721581" cy="1600196"/>
          </a:xfrm>
          <a:prstGeom prst="rect">
            <a:avLst/>
          </a:prstGeom>
          <a:noFill/>
          <a:ln/>
        </p:spPr>
        <p:txBody>
          <a:bodyPr wrap="square" lIns="0" tIns="0" rIns="0" bIns="0" rtlCol="0" anchor="t"/>
          <a:lstStyle/>
          <a:p>
            <a:pPr algn="l" indent="0" marL="0">
              <a:lnSpc>
                <a:spcPts val="6300"/>
              </a:lnSpc>
              <a:buNone/>
            </a:pPr>
            <a:r>
              <a:rPr lang="en-US" sz="6000" b="1" dirty="0">
                <a:solidFill>
                  <a:srgbClr val="F4F6F1"/>
                </a:solidFill>
                <a:latin typeface="JetBrains Mono" pitchFamily="34" charset="0"/>
                <a:ea typeface="JetBrains Mono" pitchFamily="34" charset="-122"/>
                <a:cs typeface="JetBrains Mono" pitchFamily="34" charset="-120"/>
              </a:rPr>
              <a:t>Part 4</a:t>
            </a:r>
            <a:endParaRPr lang="en-US" sz="6000" dirty="0"/>
          </a:p>
          <a:p>
            <a:pPr algn="l" indent="0" marL="0">
              <a:lnSpc>
                <a:spcPts val="6300"/>
              </a:lnSpc>
              <a:buNone/>
            </a:pPr>
            <a:r>
              <a:rPr lang="en-US" sz="6000" b="1" dirty="0">
                <a:solidFill>
                  <a:srgbClr val="F4F6F1"/>
                </a:solidFill>
                <a:latin typeface="JetBrains Mono" pitchFamily="34" charset="0"/>
                <a:ea typeface="JetBrains Mono" pitchFamily="34" charset="-122"/>
                <a:cs typeface="JetBrains Mono" pitchFamily="34" charset="-120"/>
              </a:rPr>
              <a:t>Production Grade</a:t>
            </a:r>
            <a:endParaRPr lang="en-US" sz="6000" dirty="0"/>
          </a:p>
        </p:txBody>
      </p:sp>
      <p:sp>
        <p:nvSpPr>
          <p:cNvPr id="4" name="Text 2"/>
          <p:cNvSpPr/>
          <p:nvPr/>
        </p:nvSpPr>
        <p:spPr>
          <a:xfrm>
            <a:off x="812798" y="3944630"/>
            <a:ext cx="7721581" cy="568919"/>
          </a:xfrm>
          <a:prstGeom prst="rect">
            <a:avLst/>
          </a:prstGeom>
          <a:noFill/>
          <a:ln/>
        </p:spPr>
        <p:txBody>
          <a:bodyPr wrap="square" lIns="0" tIns="0" rIns="0" bIns="0" rtlCol="0" anchor="t"/>
          <a:lstStyle/>
          <a:p>
            <a:pPr algn="l" indent="0" marL="0">
              <a:lnSpc>
                <a:spcPts val="2240"/>
              </a:lnSpc>
              <a:buNone/>
            </a:pPr>
            <a:r>
              <a:rPr lang="en-US" sz="1600" dirty="0">
                <a:solidFill>
                  <a:srgbClr val="A9C9B3"/>
                </a:solidFill>
                <a:latin typeface="IBM Plex Sans" pitchFamily="34" charset="0"/>
                <a:ea typeface="IBM Plex Sans" pitchFamily="34" charset="-122"/>
                <a:cs typeface="IBM Plex Sans" pitchFamily="34" charset="-120"/>
              </a:rPr>
              <a:t>Tests on every push, strict headers on every page, a security review, and a free deploy with a public address.</a:t>
            </a:r>
            <a:endParaRPr lang="en-US" sz="1600" dirty="0"/>
          </a:p>
        </p:txBody>
      </p:sp>
      <p:sp>
        <p:nvSpPr>
          <p:cNvPr id="5" name="Text 3"/>
          <p:cNvSpPr/>
          <p:nvPr/>
        </p:nvSpPr>
        <p:spPr>
          <a:xfrm>
            <a:off x="812798" y="4716748"/>
            <a:ext cx="7721581"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about 15 minutes · tag part-4-prod</a:t>
            </a:r>
            <a:endParaRPr lang="en-US" sz="1200" dirty="0"/>
          </a:p>
        </p:txBody>
      </p:sp>
      <p:sp>
        <p:nvSpPr>
          <p:cNvPr id="6" name="Shape 4"/>
          <p:cNvSpPr/>
          <p:nvPr/>
        </p:nvSpPr>
        <p:spPr>
          <a:xfrm>
            <a:off x="9474176" y="2613018"/>
            <a:ext cx="1142997" cy="1428746"/>
          </a:xfrm>
          <a:prstGeom prst="rect">
            <a:avLst/>
          </a:prstGeom>
          <a:ln w="95250">
            <a:solidFill>
              <a:srgbClr val="39FF88"/>
            </a:solidFill>
            <a:prstDash val="solid"/>
          </a:ln>
        </p:spPr>
      </p:sp>
      <p:sp>
        <p:nvSpPr>
          <p:cNvPr id="7" name="Shape 5"/>
          <p:cNvSpPr/>
          <p:nvPr/>
        </p:nvSpPr>
        <p:spPr>
          <a:xfrm>
            <a:off x="10617173" y="2994018"/>
            <a:ext cx="457199" cy="666748"/>
          </a:xfrm>
          <a:prstGeom prst="rect">
            <a:avLst/>
          </a:prstGeom>
          <a:ln w="95250">
            <a:solidFill>
              <a:srgbClr val="39FF88"/>
            </a:solidFill>
            <a:prstDash val="solid"/>
          </a:ln>
        </p:spPr>
      </p:sp>
      <p:sp>
        <p:nvSpPr>
          <p:cNvPr id="8" name="Shape 6"/>
          <p:cNvSpPr/>
          <p:nvPr/>
        </p:nvSpPr>
        <p:spPr>
          <a:xfrm>
            <a:off x="9569426" y="2651118"/>
            <a:ext cx="952498" cy="1295397"/>
          </a:xfrm>
          <a:prstGeom prst="rect">
            <a:avLst/>
          </a:prstGeom>
          <a:solidFill>
            <a:srgbClr val="FFB000">
              <a:alpha val="90000"/>
            </a:srgbClr>
          </a:solidFill>
          <a:ln/>
        </p:spPr>
      </p:sp>
      <p:sp>
        <p:nvSpPr>
          <p:cNvPr id="9" name="Shape 7"/>
          <p:cNvSpPr/>
          <p:nvPr/>
        </p:nvSpPr>
        <p:spPr>
          <a:xfrm>
            <a:off x="9378927" y="2555869"/>
            <a:ext cx="1333497" cy="95250"/>
          </a:xfrm>
          <a:prstGeom prst="rect">
            <a:avLst/>
          </a:prstGeom>
          <a:solidFill>
            <a:srgbClr val="FFB000"/>
          </a:solidFill>
          <a:ln/>
        </p:spPr>
      </p:sp>
      <p:sp>
        <p:nvSpPr>
          <p:cNvPr id="10" name="Shape 8"/>
          <p:cNvSpPr/>
          <p:nvPr/>
        </p:nvSpPr>
        <p:spPr>
          <a:xfrm>
            <a:off x="9359877" y="2651118"/>
            <a:ext cx="95250" cy="571499"/>
          </a:xfrm>
          <a:prstGeom prst="rect">
            <a:avLst/>
          </a:prstGeom>
          <a:solidFill>
            <a:srgbClr val="FFB000"/>
          </a:solidFill>
          <a:ln/>
        </p:spPr>
      </p:sp>
      <p:sp>
        <p:nvSpPr>
          <p:cNvPr id="11" name="Shape 9"/>
          <p:cNvSpPr/>
          <p:nvPr/>
        </p:nvSpPr>
        <p:spPr>
          <a:xfrm>
            <a:off x="9359877" y="3375017"/>
            <a:ext cx="95250" cy="190500"/>
          </a:xfrm>
          <a:prstGeom prst="rect">
            <a:avLst/>
          </a:prstGeom>
          <a:solidFill>
            <a:srgbClr val="FFB000"/>
          </a:solidFill>
          <a:ln/>
        </p:spPr>
      </p:sp>
      <p:sp>
        <p:nvSpPr>
          <p:cNvPr id="12" name="Shape 10"/>
          <p:cNvSpPr/>
          <p:nvPr/>
        </p:nvSpPr>
        <p:spPr>
          <a:xfrm>
            <a:off x="9283677" y="4156065"/>
            <a:ext cx="1714496" cy="114300"/>
          </a:xfrm>
          <a:prstGeom prst="rect">
            <a:avLst/>
          </a:prstGeom>
          <a:solidFill>
            <a:srgbClr val="24402C"/>
          </a:solidFill>
          <a:ln/>
        </p:spPr>
      </p:sp>
      <p:sp>
        <p:nvSpPr>
          <p:cNvPr id="13" name="Shape 11"/>
          <p:cNvSpPr/>
          <p:nvPr/>
        </p:nvSpPr>
        <p:spPr>
          <a:xfrm>
            <a:off x="9283677" y="4060815"/>
            <a:ext cx="571499" cy="95250"/>
          </a:xfrm>
          <a:prstGeom prst="rect">
            <a:avLst/>
          </a:prstGeom>
          <a:solidFill>
            <a:srgbClr val="FFB000"/>
          </a:solidFill>
          <a:ln/>
        </p:spPr>
      </p:sp>
      <p:sp>
        <p:nvSpPr>
          <p:cNvPr id="14" name="Shape 12"/>
          <p:cNvSpPr/>
          <p:nvPr/>
        </p:nvSpPr>
        <p:spPr>
          <a:xfrm>
            <a:off x="9759926" y="2232019"/>
            <a:ext cx="76200" cy="76200"/>
          </a:xfrm>
          <a:prstGeom prst="rect">
            <a:avLst/>
          </a:prstGeom>
          <a:solidFill>
            <a:srgbClr val="86B394"/>
          </a:solidFill>
          <a:ln/>
        </p:spPr>
      </p:sp>
      <p:sp>
        <p:nvSpPr>
          <p:cNvPr id="15" name="Shape 13"/>
          <p:cNvSpPr/>
          <p:nvPr/>
        </p:nvSpPr>
        <p:spPr>
          <a:xfrm>
            <a:off x="9702776" y="2365369"/>
            <a:ext cx="76200" cy="76200"/>
          </a:xfrm>
          <a:prstGeom prst="rect">
            <a:avLst/>
          </a:prstGeom>
          <a:solidFill>
            <a:srgbClr val="86B394"/>
          </a:solidFill>
          <a:ln/>
        </p:spPr>
      </p:sp>
      <p:sp>
        <p:nvSpPr>
          <p:cNvPr id="16" name="Shape 14"/>
          <p:cNvSpPr/>
          <p:nvPr/>
        </p:nvSpPr>
        <p:spPr>
          <a:xfrm>
            <a:off x="10140925" y="2193920"/>
            <a:ext cx="76200" cy="76200"/>
          </a:xfrm>
          <a:prstGeom prst="rect">
            <a:avLst/>
          </a:prstGeom>
          <a:solidFill>
            <a:srgbClr val="86B394"/>
          </a:solidFill>
          <a:ln/>
        </p:spPr>
      </p:sp>
      <p:sp>
        <p:nvSpPr>
          <p:cNvPr id="17" name="Shape 15"/>
          <p:cNvSpPr/>
          <p:nvPr/>
        </p:nvSpPr>
        <p:spPr>
          <a:xfrm>
            <a:off x="10198075" y="2327269"/>
            <a:ext cx="76200" cy="76200"/>
          </a:xfrm>
          <a:prstGeom prst="rect">
            <a:avLst/>
          </a:prstGeom>
          <a:solidFill>
            <a:srgbClr val="86B394"/>
          </a:solidFill>
          <a:ln/>
        </p:spPr>
      </p:sp>
      <p:sp>
        <p:nvSpPr>
          <p:cNvPr id="18" name="Text 16"/>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 part 4 of 4 · architecture → app → tests → production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THE FOUR PARTS</a:t>
            </a:r>
            <a:endParaRPr lang="en-US" sz="1200" dirty="0"/>
          </a:p>
        </p:txBody>
      </p:sp>
      <p:sp>
        <p:nvSpPr>
          <p:cNvPr id="3" name="Text 1"/>
          <p:cNvSpPr/>
          <p:nvPr/>
        </p:nvSpPr>
        <p:spPr>
          <a:xfrm>
            <a:off x="812798" y="13144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One app, four sittings</a:t>
            </a:r>
            <a:endParaRPr lang="en-US" sz="3600" dirty="0"/>
          </a:p>
        </p:txBody>
      </p:sp>
      <p:sp>
        <p:nvSpPr>
          <p:cNvPr id="4" name="Text 2"/>
          <p:cNvSpPr/>
          <p:nvPr/>
        </p:nvSpPr>
        <p:spPr>
          <a:xfrm>
            <a:off x="812798" y="2122085"/>
            <a:ext cx="10617173" cy="284459"/>
          </a:xfrm>
          <a:prstGeom prst="rect">
            <a:avLst/>
          </a:prstGeom>
          <a:noFill/>
          <a:ln/>
        </p:spPr>
        <p:txBody>
          <a:bodyPr wrap="square" lIns="0" tIns="0" rIns="0" bIns="0" rtlCol="0" anchor="t"/>
          <a:lstStyle/>
          <a:p>
            <a:pPr algn="l" indent="0" marL="0">
              <a:lnSpc>
                <a:spcPts val="2240"/>
              </a:lnSpc>
              <a:buNone/>
            </a:pPr>
            <a:r>
              <a:rPr lang="en-US" sz="1600" dirty="0">
                <a:solidFill>
                  <a:srgbClr val="A9C9B3"/>
                </a:solidFill>
                <a:latin typeface="IBM Plex Sans" pitchFamily="34" charset="0"/>
                <a:ea typeface="IBM Plex Sans" pitchFamily="34" charset="-122"/>
                <a:cs typeface="IBM Plex Sans" pitchFamily="34" charset="-120"/>
              </a:rPr>
              <a:t>Designed, built and tested. The last part makes it safe to publish, and to keep publishing, for free.</a:t>
            </a:r>
            <a:endParaRPr lang="en-US" sz="1600" dirty="0"/>
          </a:p>
        </p:txBody>
      </p:sp>
      <p:sp>
        <p:nvSpPr>
          <p:cNvPr id="5" name="Shape 3"/>
          <p:cNvSpPr/>
          <p:nvPr/>
        </p:nvSpPr>
        <p:spPr>
          <a:xfrm>
            <a:off x="812798" y="2711344"/>
            <a:ext cx="2486019" cy="1969686"/>
          </a:xfrm>
          <a:prstGeom prst="roundRect">
            <a:avLst>
              <a:gd name="adj" fmla="val 3869"/>
            </a:avLst>
          </a:prstGeom>
          <a:solidFill>
            <a:srgbClr val="111812"/>
          </a:solidFill>
          <a:ln w="9525">
            <a:solidFill>
              <a:srgbClr val="24402C"/>
            </a:solidFill>
            <a:prstDash val="solid"/>
          </a:ln>
        </p:spPr>
      </p:sp>
      <p:sp>
        <p:nvSpPr>
          <p:cNvPr id="6" name="Text 4"/>
          <p:cNvSpPr/>
          <p:nvPr/>
        </p:nvSpPr>
        <p:spPr>
          <a:xfrm>
            <a:off x="1047747" y="294629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86B394"/>
                </a:solidFill>
                <a:latin typeface="JetBrains Mono" pitchFamily="34" charset="0"/>
                <a:ea typeface="JetBrains Mono" pitchFamily="34" charset="-122"/>
                <a:cs typeface="JetBrains Mono" pitchFamily="34" charset="-120"/>
              </a:rPr>
              <a:t>01</a:t>
            </a:r>
            <a:endParaRPr lang="en-US" sz="2200" dirty="0"/>
          </a:p>
        </p:txBody>
      </p:sp>
      <p:sp>
        <p:nvSpPr>
          <p:cNvPr id="7" name="Text 5"/>
          <p:cNvSpPr/>
          <p:nvPr/>
        </p:nvSpPr>
        <p:spPr>
          <a:xfrm>
            <a:off x="1047747" y="339079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Architecture</a:t>
            </a:r>
            <a:endParaRPr lang="en-US" sz="1600" dirty="0"/>
          </a:p>
        </p:txBody>
      </p:sp>
      <p:sp>
        <p:nvSpPr>
          <p:cNvPr id="8" name="Text 6"/>
          <p:cNvSpPr/>
          <p:nvPr/>
        </p:nvSpPr>
        <p:spPr>
          <a:xfrm>
            <a:off x="1047747" y="3733691"/>
            <a:ext cx="2066920"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Requirements, decisions, a diagram and a design canvas. Done.</a:t>
            </a:r>
            <a:endParaRPr lang="en-US" sz="1200" dirty="0"/>
          </a:p>
        </p:txBody>
      </p:sp>
      <p:sp>
        <p:nvSpPr>
          <p:cNvPr id="9" name="Shape 7"/>
          <p:cNvSpPr/>
          <p:nvPr/>
        </p:nvSpPr>
        <p:spPr>
          <a:xfrm>
            <a:off x="3502016" y="2711344"/>
            <a:ext cx="2486019" cy="1969686"/>
          </a:xfrm>
          <a:prstGeom prst="roundRect">
            <a:avLst>
              <a:gd name="adj" fmla="val 3869"/>
            </a:avLst>
          </a:prstGeom>
          <a:solidFill>
            <a:srgbClr val="111812"/>
          </a:solidFill>
          <a:ln w="9525">
            <a:solidFill>
              <a:srgbClr val="24402C"/>
            </a:solidFill>
            <a:prstDash val="solid"/>
          </a:ln>
        </p:spPr>
      </p:sp>
      <p:sp>
        <p:nvSpPr>
          <p:cNvPr id="10" name="Text 8"/>
          <p:cNvSpPr/>
          <p:nvPr/>
        </p:nvSpPr>
        <p:spPr>
          <a:xfrm>
            <a:off x="3736966" y="294629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86B394"/>
                </a:solidFill>
                <a:latin typeface="JetBrains Mono" pitchFamily="34" charset="0"/>
                <a:ea typeface="JetBrains Mono" pitchFamily="34" charset="-122"/>
                <a:cs typeface="JetBrains Mono" pitchFamily="34" charset="-120"/>
              </a:rPr>
              <a:t>02</a:t>
            </a:r>
            <a:endParaRPr lang="en-US" sz="2200" dirty="0"/>
          </a:p>
        </p:txBody>
      </p:sp>
      <p:sp>
        <p:nvSpPr>
          <p:cNvPr id="11" name="Text 9"/>
          <p:cNvSpPr/>
          <p:nvPr/>
        </p:nvSpPr>
        <p:spPr>
          <a:xfrm>
            <a:off x="3736966" y="339079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App building</a:t>
            </a:r>
            <a:endParaRPr lang="en-US" sz="1600" dirty="0"/>
          </a:p>
        </p:txBody>
      </p:sp>
      <p:sp>
        <p:nvSpPr>
          <p:cNvPr id="12" name="Text 10"/>
          <p:cNvSpPr/>
          <p:nvPr/>
        </p:nvSpPr>
        <p:spPr>
          <a:xfrm>
            <a:off x="3736966" y="3733691"/>
            <a:ext cx="2066920"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A running app, checked in the browser. Done.</a:t>
            </a:r>
            <a:endParaRPr lang="en-US" sz="1200" dirty="0"/>
          </a:p>
        </p:txBody>
      </p:sp>
      <p:sp>
        <p:nvSpPr>
          <p:cNvPr id="13" name="Shape 11"/>
          <p:cNvSpPr/>
          <p:nvPr/>
        </p:nvSpPr>
        <p:spPr>
          <a:xfrm>
            <a:off x="6191235" y="2711344"/>
            <a:ext cx="2486019" cy="1969686"/>
          </a:xfrm>
          <a:prstGeom prst="roundRect">
            <a:avLst>
              <a:gd name="adj" fmla="val 3869"/>
            </a:avLst>
          </a:prstGeom>
          <a:solidFill>
            <a:srgbClr val="111812"/>
          </a:solidFill>
          <a:ln w="9525">
            <a:solidFill>
              <a:srgbClr val="24402C"/>
            </a:solidFill>
            <a:prstDash val="solid"/>
          </a:ln>
        </p:spPr>
      </p:sp>
      <p:sp>
        <p:nvSpPr>
          <p:cNvPr id="14" name="Text 12"/>
          <p:cNvSpPr/>
          <p:nvPr/>
        </p:nvSpPr>
        <p:spPr>
          <a:xfrm>
            <a:off x="6426184" y="294629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86B394"/>
                </a:solidFill>
                <a:latin typeface="JetBrains Mono" pitchFamily="34" charset="0"/>
                <a:ea typeface="JetBrains Mono" pitchFamily="34" charset="-122"/>
                <a:cs typeface="JetBrains Mono" pitchFamily="34" charset="-120"/>
              </a:rPr>
              <a:t>03</a:t>
            </a:r>
            <a:endParaRPr lang="en-US" sz="2200" dirty="0"/>
          </a:p>
        </p:txBody>
      </p:sp>
      <p:sp>
        <p:nvSpPr>
          <p:cNvPr id="15" name="Text 13"/>
          <p:cNvSpPr/>
          <p:nvPr/>
        </p:nvSpPr>
        <p:spPr>
          <a:xfrm>
            <a:off x="6426184" y="339079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Testing</a:t>
            </a:r>
            <a:endParaRPr lang="en-US" sz="1600" dirty="0"/>
          </a:p>
        </p:txBody>
      </p:sp>
      <p:sp>
        <p:nvSpPr>
          <p:cNvPr id="16" name="Text 14"/>
          <p:cNvSpPr/>
          <p:nvPr/>
        </p:nvSpPr>
        <p:spPr>
          <a:xfrm>
            <a:off x="6426184" y="3733691"/>
            <a:ext cx="2066920"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Three test layers and a planted bug caught. Done.</a:t>
            </a:r>
            <a:endParaRPr lang="en-US" sz="1200" dirty="0"/>
          </a:p>
        </p:txBody>
      </p:sp>
      <p:sp>
        <p:nvSpPr>
          <p:cNvPr id="17" name="Shape 15"/>
          <p:cNvSpPr/>
          <p:nvPr/>
        </p:nvSpPr>
        <p:spPr>
          <a:xfrm>
            <a:off x="8880453" y="2711344"/>
            <a:ext cx="2498719" cy="1969686"/>
          </a:xfrm>
          <a:prstGeom prst="roundRect">
            <a:avLst>
              <a:gd name="adj" fmla="val 3869"/>
            </a:avLst>
          </a:prstGeom>
          <a:solidFill>
            <a:srgbClr val="16201A"/>
          </a:solidFill>
          <a:ln w="12700">
            <a:solidFill>
              <a:srgbClr val="39FF88"/>
            </a:solidFill>
            <a:prstDash val="solid"/>
          </a:ln>
        </p:spPr>
      </p:sp>
      <p:sp>
        <p:nvSpPr>
          <p:cNvPr id="18" name="Text 16"/>
          <p:cNvSpPr/>
          <p:nvPr/>
        </p:nvSpPr>
        <p:spPr>
          <a:xfrm>
            <a:off x="9121752" y="295264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39FF88"/>
                </a:solidFill>
                <a:latin typeface="JetBrains Mono" pitchFamily="34" charset="0"/>
                <a:ea typeface="JetBrains Mono" pitchFamily="34" charset="-122"/>
                <a:cs typeface="JetBrains Mono" pitchFamily="34" charset="-120"/>
              </a:rPr>
              <a:t>04</a:t>
            </a:r>
            <a:endParaRPr lang="en-US" sz="2200" dirty="0"/>
          </a:p>
        </p:txBody>
      </p:sp>
      <p:sp>
        <p:nvSpPr>
          <p:cNvPr id="19" name="Text 17"/>
          <p:cNvSpPr/>
          <p:nvPr/>
        </p:nvSpPr>
        <p:spPr>
          <a:xfrm>
            <a:off x="9121752" y="339714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Production</a:t>
            </a:r>
            <a:endParaRPr lang="en-US" sz="1600" dirty="0"/>
          </a:p>
        </p:txBody>
      </p:sp>
      <p:sp>
        <p:nvSpPr>
          <p:cNvPr id="20" name="Text 18"/>
          <p:cNvSpPr/>
          <p:nvPr/>
        </p:nvSpPr>
        <p:spPr>
          <a:xfrm>
            <a:off x="9121752" y="3740041"/>
            <a:ext cx="2066920"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CI, security headers, a review, and a live address.</a:t>
            </a:r>
            <a:endParaRPr lang="en-US" sz="1200" dirty="0"/>
          </a:p>
        </p:txBody>
      </p:sp>
      <p:sp>
        <p:nvSpPr>
          <p:cNvPr id="21" name="Text 19"/>
          <p:cNvSpPr/>
          <p:nvPr/>
        </p:nvSpPr>
        <p:spPr>
          <a:xfrm>
            <a:off x="9121752" y="4242881"/>
            <a:ext cx="2066920" cy="196850"/>
          </a:xfrm>
          <a:prstGeom prst="rect">
            <a:avLst/>
          </a:prstGeom>
          <a:noFill/>
          <a:ln/>
        </p:spPr>
        <p:txBody>
          <a:bodyPr wrap="square" lIns="0" tIns="0" rIns="0" bIns="0" rtlCol="0" anchor="t"/>
          <a:lstStyle/>
          <a:p>
            <a:pPr algn="l" indent="0" marL="0">
              <a:lnSpc>
                <a:spcPts val="1440"/>
              </a:lnSpc>
              <a:buNone/>
            </a:pPr>
            <a:r>
              <a:rPr lang="en-US" sz="1200" dirty="0">
                <a:solidFill>
                  <a:srgbClr val="39FF88"/>
                </a:solidFill>
                <a:latin typeface="JetBrains Mono" pitchFamily="34" charset="0"/>
                <a:ea typeface="JetBrains Mono" pitchFamily="34" charset="-122"/>
                <a:cs typeface="JetBrains Mono" pitchFamily="34" charset="-120"/>
              </a:rPr>
              <a:t>you are here</a:t>
            </a:r>
            <a:endParaRPr lang="en-US" sz="1200" dirty="0"/>
          </a:p>
        </p:txBody>
      </p:sp>
      <p:sp>
        <p:nvSpPr>
          <p:cNvPr id="22" name="Text 20"/>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4 · production grade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7A3D"/>
        </a:solidFill>
      </p:bgPr>
    </p:bg>
    <p:spTree>
      <p:nvGrpSpPr>
        <p:cNvPr id="1" name=""/>
        <p:cNvGrpSpPr/>
        <p:nvPr/>
      </p:nvGrpSpPr>
      <p:grpSpPr>
        <a:xfrm>
          <a:off x="0" y="0"/>
          <a:ext cx="0" cy="0"/>
          <a:chOff x="0" y="0"/>
          <a:chExt cx="0" cy="0"/>
        </a:xfrm>
      </p:grpSpPr>
      <p:sp>
        <p:nvSpPr>
          <p:cNvPr id="2" name="Text 0"/>
          <p:cNvSpPr/>
          <p:nvPr/>
        </p:nvSpPr>
        <p:spPr>
          <a:xfrm>
            <a:off x="812798" y="1717671"/>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D7F5DD"/>
                </a:solidFill>
                <a:latin typeface="JetBrains Mono" pitchFamily="34" charset="0"/>
                <a:ea typeface="JetBrains Mono" pitchFamily="34" charset="-122"/>
                <a:cs typeface="JetBrains Mono" pitchFamily="34" charset="-120"/>
              </a:rPr>
              <a:t>// THE GOAL OF PART 4</a:t>
            </a:r>
            <a:endParaRPr lang="en-US" sz="1200" dirty="0"/>
          </a:p>
        </p:txBody>
      </p:sp>
      <p:sp>
        <p:nvSpPr>
          <p:cNvPr id="3" name="Text 1"/>
          <p:cNvSpPr/>
          <p:nvPr/>
        </p:nvSpPr>
        <p:spPr>
          <a:xfrm>
            <a:off x="812798" y="2219319"/>
            <a:ext cx="10617173" cy="1843976"/>
          </a:xfrm>
          <a:prstGeom prst="rect">
            <a:avLst/>
          </a:prstGeom>
          <a:noFill/>
          <a:ln/>
        </p:spPr>
        <p:txBody>
          <a:bodyPr wrap="square" lIns="0" tIns="0" rIns="0" bIns="0" rtlCol="0" anchor="t"/>
          <a:lstStyle/>
          <a:p>
            <a:pPr algn="l" indent="0" marL="0">
              <a:lnSpc>
                <a:spcPts val="4840"/>
              </a:lnSpc>
              <a:buNone/>
            </a:pPr>
            <a:r>
              <a:rPr lang="en-US" sz="4400" b="1" dirty="0">
                <a:solidFill>
                  <a:srgbClr val="F4F6F1"/>
                </a:solidFill>
                <a:latin typeface="JetBrains Mono" pitchFamily="34" charset="0"/>
                <a:ea typeface="JetBrains Mono" pitchFamily="34" charset="-122"/>
                <a:cs typeface="JetBrains Mono" pitchFamily="34" charset="-120"/>
              </a:rPr>
              <a:t>Every push tested, every page hardened, one public address, zero dollars.</a:t>
            </a:r>
            <a:endParaRPr lang="en-US" sz="4400" dirty="0"/>
          </a:p>
        </p:txBody>
      </p:sp>
      <p:sp>
        <p:nvSpPr>
          <p:cNvPr id="4" name="Text 2"/>
          <p:cNvSpPr/>
          <p:nvPr/>
        </p:nvSpPr>
        <p:spPr>
          <a:xfrm>
            <a:off x="812798" y="4368095"/>
            <a:ext cx="8940778" cy="568919"/>
          </a:xfrm>
          <a:prstGeom prst="rect">
            <a:avLst/>
          </a:prstGeom>
          <a:noFill/>
          <a:ln/>
        </p:spPr>
        <p:txBody>
          <a:bodyPr wrap="square" lIns="0" tIns="0" rIns="0" bIns="0" rtlCol="0" anchor="t"/>
          <a:lstStyle/>
          <a:p>
            <a:pPr algn="l" indent="0" marL="0">
              <a:lnSpc>
                <a:spcPts val="2240"/>
              </a:lnSpc>
              <a:buNone/>
            </a:pPr>
            <a:r>
              <a:rPr lang="en-US" sz="1600" dirty="0">
                <a:solidFill>
                  <a:srgbClr val="D7F5DD"/>
                </a:solidFill>
                <a:latin typeface="IBM Plex Sans" pitchFamily="34" charset="0"/>
                <a:ea typeface="IBM Plex Sans" pitchFamily="34" charset="-122"/>
                <a:cs typeface="IBM Plex Sans" pitchFamily="34" charset="-120"/>
              </a:rPr>
              <a:t>Production grade for a browser-only app means a pipeline that gates the deploy, headers that make injected code inert, and a deploy you can roll back with one click.</a:t>
            </a:r>
            <a:endParaRPr lang="en-US" sz="1600" dirty="0"/>
          </a:p>
        </p:txBody>
      </p:sp>
      <p:sp>
        <p:nvSpPr>
          <p:cNvPr id="5" name="Text 3"/>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D7F5DD"/>
                </a:solidFill>
                <a:latin typeface="JetBrains Mono" pitchFamily="34" charset="0"/>
                <a:ea typeface="JetBrains Mono" pitchFamily="34" charset="-122"/>
                <a:cs typeface="JetBrains Mono" pitchFamily="34" charset="-120"/>
              </a:rPr>
              <a:t>part 4 · production grade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LIVE</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The prompt</a:t>
            </a:r>
            <a:endParaRPr lang="en-US" sz="3600" dirty="0"/>
          </a:p>
        </p:txBody>
      </p:sp>
      <p:sp>
        <p:nvSpPr>
          <p:cNvPr id="4" name="Shape 2"/>
          <p:cNvSpPr/>
          <p:nvPr/>
        </p:nvSpPr>
        <p:spPr>
          <a:xfrm>
            <a:off x="812798" y="2020486"/>
            <a:ext cx="10566374" cy="1624207"/>
          </a:xfrm>
          <a:prstGeom prst="roundRect">
            <a:avLst>
              <a:gd name="adj" fmla="val 4692"/>
            </a:avLst>
          </a:prstGeom>
          <a:solidFill>
            <a:srgbClr val="111812"/>
          </a:solidFill>
          <a:ln w="9525">
            <a:solidFill>
              <a:srgbClr val="24402C"/>
            </a:solidFill>
            <a:prstDash val="solid"/>
          </a:ln>
        </p:spPr>
      </p:sp>
      <p:sp>
        <p:nvSpPr>
          <p:cNvPr id="5" name="Text 3"/>
          <p:cNvSpPr/>
          <p:nvPr/>
        </p:nvSpPr>
        <p:spPr>
          <a:xfrm>
            <a:off x="1123947" y="2331635"/>
            <a:ext cx="9994875" cy="234949"/>
          </a:xfrm>
          <a:prstGeom prst="rect">
            <a:avLst/>
          </a:prstGeom>
          <a:noFill/>
          <a:ln/>
        </p:spPr>
        <p:txBody>
          <a:bodyPr wrap="square" lIns="0" tIns="0" rIns="0" bIns="0" rtlCol="0" anchor="t"/>
          <a:lstStyle/>
          <a:p>
            <a:pPr algn="l" indent="0" marL="0">
              <a:lnSpc>
                <a:spcPts val="1680"/>
              </a:lnSpc>
              <a:buNone/>
            </a:pPr>
            <a:r>
              <a:rPr lang="en-US" sz="1400" dirty="0">
                <a:solidFill>
                  <a:srgbClr val="86B394"/>
                </a:solidFill>
                <a:latin typeface="JetBrains Mono" pitchFamily="34" charset="0"/>
                <a:ea typeface="JetBrains Mono" pitchFamily="34" charset="-122"/>
                <a:cs typeface="JetBrains Mono" pitchFamily="34" charset="-120"/>
              </a:rPr>
              <a:t>~$ claude</a:t>
            </a:r>
            <a:endParaRPr lang="en-US" sz="1400" dirty="0"/>
          </a:p>
        </p:txBody>
      </p:sp>
      <p:sp>
        <p:nvSpPr>
          <p:cNvPr id="6" name="Text 4"/>
          <p:cNvSpPr/>
          <p:nvPr/>
        </p:nvSpPr>
        <p:spPr>
          <a:xfrm>
            <a:off x="1123947" y="2693584"/>
            <a:ext cx="9994875" cy="639959"/>
          </a:xfrm>
          <a:prstGeom prst="rect">
            <a:avLst/>
          </a:prstGeom>
          <a:noFill/>
          <a:ln/>
        </p:spPr>
        <p:txBody>
          <a:bodyPr wrap="square" lIns="0" tIns="0" rIns="0" bIns="0" rtlCol="0" anchor="t"/>
          <a:lstStyle/>
          <a:p>
            <a:pPr algn="l" indent="0" marL="0">
              <a:lnSpc>
                <a:spcPts val="2520"/>
              </a:lnSpc>
              <a:buNone/>
            </a:pPr>
            <a:r>
              <a:rPr lang="en-US" sz="1800" dirty="0">
                <a:solidFill>
                  <a:srgbClr val="D7F5DD"/>
                </a:solidFill>
                <a:latin typeface="JetBrains Mono" pitchFamily="34" charset="0"/>
                <a:ea typeface="JetBrains Mono" pitchFamily="34" charset="-122"/>
                <a:cs typeface="JetBrains Mono" pitchFamily="34" charset="-120"/>
              </a:rPr>
              <a:t>&gt; Make this production ready: CI that runs the tests, security headers, and a free deploy to Cloudflare Pages.</a:t>
            </a:r>
            <a:endParaRPr lang="en-US" sz="1800" dirty="0"/>
          </a:p>
        </p:txBody>
      </p:sp>
      <p:sp>
        <p:nvSpPr>
          <p:cNvPr id="7" name="Shape 5"/>
          <p:cNvSpPr/>
          <p:nvPr/>
        </p:nvSpPr>
        <p:spPr>
          <a:xfrm>
            <a:off x="812798" y="3898692"/>
            <a:ext cx="3386625" cy="1344808"/>
          </a:xfrm>
          <a:prstGeom prst="roundRect">
            <a:avLst>
              <a:gd name="adj" fmla="val 5666"/>
            </a:avLst>
          </a:prstGeom>
          <a:solidFill>
            <a:srgbClr val="16201A"/>
          </a:solidFill>
          <a:ln w="9525">
            <a:solidFill>
              <a:srgbClr val="24402C"/>
            </a:solidFill>
            <a:prstDash val="solid"/>
          </a:ln>
        </p:spPr>
      </p:sp>
      <p:sp>
        <p:nvSpPr>
          <p:cNvPr id="8" name="Text 6"/>
          <p:cNvSpPr/>
          <p:nvPr/>
        </p:nvSpPr>
        <p:spPr>
          <a:xfrm>
            <a:off x="1022347" y="4108241"/>
            <a:ext cx="3018326"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One prompt, three deliverables</a:t>
            </a:r>
            <a:endParaRPr lang="en-US" sz="1400" dirty="0"/>
          </a:p>
        </p:txBody>
      </p:sp>
      <p:sp>
        <p:nvSpPr>
          <p:cNvPr id="9" name="Text 7"/>
          <p:cNvSpPr/>
          <p:nvPr/>
        </p:nvSpPr>
        <p:spPr>
          <a:xfrm>
            <a:off x="1022347" y="4393991"/>
            <a:ext cx="3018326"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A workflow file, a headers file, and a deploy config. Watch the plan split them up.</a:t>
            </a:r>
            <a:endParaRPr lang="en-US" sz="1200" dirty="0"/>
          </a:p>
        </p:txBody>
      </p:sp>
      <p:sp>
        <p:nvSpPr>
          <p:cNvPr id="10" name="Shape 8"/>
          <p:cNvSpPr/>
          <p:nvPr/>
        </p:nvSpPr>
        <p:spPr>
          <a:xfrm>
            <a:off x="4402623" y="3898692"/>
            <a:ext cx="3386724" cy="1344808"/>
          </a:xfrm>
          <a:prstGeom prst="roundRect">
            <a:avLst>
              <a:gd name="adj" fmla="val 5666"/>
            </a:avLst>
          </a:prstGeom>
          <a:solidFill>
            <a:srgbClr val="16201A"/>
          </a:solidFill>
          <a:ln w="9525">
            <a:solidFill>
              <a:srgbClr val="24402C"/>
            </a:solidFill>
            <a:prstDash val="solid"/>
          </a:ln>
        </p:spPr>
      </p:sp>
      <p:sp>
        <p:nvSpPr>
          <p:cNvPr id="11" name="Text 9"/>
          <p:cNvSpPr/>
          <p:nvPr/>
        </p:nvSpPr>
        <p:spPr>
          <a:xfrm>
            <a:off x="4612172" y="4108241"/>
            <a:ext cx="3018425"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Then the review</a:t>
            </a:r>
            <a:endParaRPr lang="en-US" sz="1400" dirty="0"/>
          </a:p>
        </p:txBody>
      </p:sp>
      <p:sp>
        <p:nvSpPr>
          <p:cNvPr id="12" name="Text 10"/>
          <p:cNvSpPr/>
          <p:nvPr/>
        </p:nvSpPr>
        <p:spPr>
          <a:xfrm>
            <a:off x="4612172" y="4393991"/>
            <a:ext cx="3018425"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Run the built-in security review on the change before it is committed. Read its verdict together.</a:t>
            </a:r>
            <a:endParaRPr lang="en-US" sz="1200" dirty="0"/>
          </a:p>
        </p:txBody>
      </p:sp>
      <p:sp>
        <p:nvSpPr>
          <p:cNvPr id="13" name="Shape 11"/>
          <p:cNvSpPr/>
          <p:nvPr/>
        </p:nvSpPr>
        <p:spPr>
          <a:xfrm>
            <a:off x="7992546" y="3898692"/>
            <a:ext cx="3386625" cy="1344808"/>
          </a:xfrm>
          <a:prstGeom prst="roundRect">
            <a:avLst>
              <a:gd name="adj" fmla="val 5666"/>
            </a:avLst>
          </a:prstGeom>
          <a:solidFill>
            <a:srgbClr val="16201A"/>
          </a:solidFill>
          <a:ln w="9525">
            <a:solidFill>
              <a:srgbClr val="24402C"/>
            </a:solidFill>
            <a:prstDash val="solid"/>
          </a:ln>
        </p:spPr>
      </p:sp>
      <p:sp>
        <p:nvSpPr>
          <p:cNvPr id="14" name="Text 12"/>
          <p:cNvSpPr/>
          <p:nvPr/>
        </p:nvSpPr>
        <p:spPr>
          <a:xfrm>
            <a:off x="8202096" y="4108241"/>
            <a:ext cx="3018326"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Before the session</a:t>
            </a:r>
            <a:endParaRPr lang="en-US" sz="1400" dirty="0"/>
          </a:p>
        </p:txBody>
      </p:sp>
      <p:sp>
        <p:nvSpPr>
          <p:cNvPr id="15" name="Text 13"/>
          <p:cNvSpPr/>
          <p:nvPr/>
        </p:nvSpPr>
        <p:spPr>
          <a:xfrm>
            <a:off x="8202096" y="4393991"/>
            <a:ext cx="3018326"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GitHub signed in from the terminal; a free Cloudflare account open in a tab.</a:t>
            </a:r>
            <a:endParaRPr lang="en-US" sz="1200" dirty="0"/>
          </a:p>
        </p:txBody>
      </p:sp>
      <p:sp>
        <p:nvSpPr>
          <p:cNvPr id="16" name="Text 14"/>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4 · production grade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01A"/>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WHAT TO WATCH FOR</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Four things worth pointing at</a:t>
            </a:r>
            <a:endParaRPr lang="en-US" sz="3600" dirty="0"/>
          </a:p>
        </p:txBody>
      </p:sp>
      <p:sp>
        <p:nvSpPr>
          <p:cNvPr id="4" name="Shape 2"/>
          <p:cNvSpPr/>
          <p:nvPr/>
        </p:nvSpPr>
        <p:spPr>
          <a:xfrm>
            <a:off x="812798" y="2020486"/>
            <a:ext cx="5181587" cy="1655957"/>
          </a:xfrm>
          <a:prstGeom prst="roundRect">
            <a:avLst>
              <a:gd name="adj" fmla="val 4602"/>
            </a:avLst>
          </a:prstGeom>
          <a:solidFill>
            <a:srgbClr val="111812"/>
          </a:solidFill>
          <a:ln w="9525">
            <a:solidFill>
              <a:srgbClr val="24402C"/>
            </a:solidFill>
            <a:prstDash val="solid"/>
          </a:ln>
        </p:spPr>
      </p:sp>
      <p:sp>
        <p:nvSpPr>
          <p:cNvPr id="5" name="Shape 3"/>
          <p:cNvSpPr/>
          <p:nvPr/>
        </p:nvSpPr>
        <p:spPr>
          <a:xfrm>
            <a:off x="1047747" y="2331635"/>
            <a:ext cx="152400" cy="152400"/>
          </a:xfrm>
          <a:prstGeom prst="roundRect">
            <a:avLst>
              <a:gd name="adj" fmla="val 25000"/>
            </a:avLst>
          </a:prstGeom>
          <a:solidFill>
            <a:srgbClr val="39FF88"/>
          </a:solidFill>
          <a:ln/>
        </p:spPr>
      </p:sp>
      <p:sp>
        <p:nvSpPr>
          <p:cNvPr id="6" name="Text 4"/>
          <p:cNvSpPr/>
          <p:nvPr/>
        </p:nvSpPr>
        <p:spPr>
          <a:xfrm>
            <a:off x="1047747" y="2636434"/>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The security review</a:t>
            </a:r>
            <a:endParaRPr lang="en-US" sz="1600" dirty="0"/>
          </a:p>
        </p:txBody>
      </p:sp>
      <p:sp>
        <p:nvSpPr>
          <p:cNvPr id="7" name="Text 5"/>
          <p:cNvSpPr/>
          <p:nvPr/>
        </p:nvSpPr>
        <p:spPr>
          <a:xfrm>
            <a:off x="1047747" y="2979333"/>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One pass to find candidate issues, a second adversarial pass to throw out false positives. Read the verdict on screen.</a:t>
            </a:r>
            <a:endParaRPr lang="en-US" sz="1300" dirty="0"/>
          </a:p>
        </p:txBody>
      </p:sp>
      <p:sp>
        <p:nvSpPr>
          <p:cNvPr id="8" name="Shape 6"/>
          <p:cNvSpPr/>
          <p:nvPr/>
        </p:nvSpPr>
        <p:spPr>
          <a:xfrm>
            <a:off x="6197585" y="2020486"/>
            <a:ext cx="5181587" cy="1655957"/>
          </a:xfrm>
          <a:prstGeom prst="roundRect">
            <a:avLst>
              <a:gd name="adj" fmla="val 4602"/>
            </a:avLst>
          </a:prstGeom>
          <a:solidFill>
            <a:srgbClr val="111812"/>
          </a:solidFill>
          <a:ln w="9525">
            <a:solidFill>
              <a:srgbClr val="24402C"/>
            </a:solidFill>
            <a:prstDash val="solid"/>
          </a:ln>
        </p:spPr>
      </p:sp>
      <p:sp>
        <p:nvSpPr>
          <p:cNvPr id="9" name="Shape 7"/>
          <p:cNvSpPr/>
          <p:nvPr/>
        </p:nvSpPr>
        <p:spPr>
          <a:xfrm>
            <a:off x="6432534" y="2331635"/>
            <a:ext cx="152400" cy="152400"/>
          </a:xfrm>
          <a:prstGeom prst="roundRect">
            <a:avLst>
              <a:gd name="adj" fmla="val 25000"/>
            </a:avLst>
          </a:prstGeom>
          <a:solidFill>
            <a:srgbClr val="39FF88"/>
          </a:solidFill>
          <a:ln/>
        </p:spPr>
      </p:sp>
      <p:sp>
        <p:nvSpPr>
          <p:cNvPr id="10" name="Text 8"/>
          <p:cNvSpPr/>
          <p:nvPr/>
        </p:nvSpPr>
        <p:spPr>
          <a:xfrm>
            <a:off x="6432534" y="2636434"/>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A pipeline on every push</a:t>
            </a:r>
            <a:endParaRPr lang="en-US" sz="1600" dirty="0"/>
          </a:p>
        </p:txBody>
      </p:sp>
      <p:sp>
        <p:nvSpPr>
          <p:cNvPr id="11" name="Text 9"/>
          <p:cNvSpPr/>
          <p:nvPr/>
        </p:nvSpPr>
        <p:spPr>
          <a:xfrm>
            <a:off x="6432534" y="2979333"/>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Push, switch to the Actions tab, watch typecheck, unit, browser tests and build go green in a few minutes.</a:t>
            </a:r>
            <a:endParaRPr lang="en-US" sz="1300" dirty="0"/>
          </a:p>
        </p:txBody>
      </p:sp>
      <p:sp>
        <p:nvSpPr>
          <p:cNvPr id="12" name="Shape 10"/>
          <p:cNvSpPr/>
          <p:nvPr/>
        </p:nvSpPr>
        <p:spPr>
          <a:xfrm>
            <a:off x="812798" y="3879642"/>
            <a:ext cx="5181587" cy="1655957"/>
          </a:xfrm>
          <a:prstGeom prst="roundRect">
            <a:avLst>
              <a:gd name="adj" fmla="val 4602"/>
            </a:avLst>
          </a:prstGeom>
          <a:solidFill>
            <a:srgbClr val="111812"/>
          </a:solidFill>
          <a:ln w="9525">
            <a:solidFill>
              <a:srgbClr val="24402C"/>
            </a:solidFill>
            <a:prstDash val="solid"/>
          </a:ln>
        </p:spPr>
      </p:sp>
      <p:sp>
        <p:nvSpPr>
          <p:cNvPr id="13" name="Shape 11"/>
          <p:cNvSpPr/>
          <p:nvPr/>
        </p:nvSpPr>
        <p:spPr>
          <a:xfrm>
            <a:off x="1047747" y="4190791"/>
            <a:ext cx="152400" cy="152400"/>
          </a:xfrm>
          <a:prstGeom prst="roundRect">
            <a:avLst>
              <a:gd name="adj" fmla="val 25000"/>
            </a:avLst>
          </a:prstGeom>
          <a:solidFill>
            <a:srgbClr val="39FF88"/>
          </a:solidFill>
          <a:ln/>
        </p:spPr>
      </p:sp>
      <p:sp>
        <p:nvSpPr>
          <p:cNvPr id="14" name="Text 12"/>
          <p:cNvSpPr/>
          <p:nvPr/>
        </p:nvSpPr>
        <p:spPr>
          <a:xfrm>
            <a:off x="1047747" y="4495590"/>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A deploy from the repo</a:t>
            </a:r>
            <a:endParaRPr lang="en-US" sz="1600" dirty="0"/>
          </a:p>
        </p:txBody>
      </p:sp>
      <p:sp>
        <p:nvSpPr>
          <p:cNvPr id="15" name="Text 13"/>
          <p:cNvSpPr/>
          <p:nvPr/>
        </p:nvSpPr>
        <p:spPr>
          <a:xfrm>
            <a:off x="1047747" y="4838489"/>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Connect the repo in the Cloudflare dashboard, enter two build settings, and open the public address a minute later.</a:t>
            </a:r>
            <a:endParaRPr lang="en-US" sz="1300" dirty="0"/>
          </a:p>
        </p:txBody>
      </p:sp>
      <p:sp>
        <p:nvSpPr>
          <p:cNvPr id="16" name="Shape 14"/>
          <p:cNvSpPr/>
          <p:nvPr/>
        </p:nvSpPr>
        <p:spPr>
          <a:xfrm>
            <a:off x="6197585" y="3879642"/>
            <a:ext cx="5181587" cy="1655957"/>
          </a:xfrm>
          <a:prstGeom prst="roundRect">
            <a:avLst>
              <a:gd name="adj" fmla="val 4602"/>
            </a:avLst>
          </a:prstGeom>
          <a:solidFill>
            <a:srgbClr val="111812"/>
          </a:solidFill>
          <a:ln w="9525">
            <a:solidFill>
              <a:srgbClr val="24402C"/>
            </a:solidFill>
            <a:prstDash val="solid"/>
          </a:ln>
        </p:spPr>
      </p:sp>
      <p:sp>
        <p:nvSpPr>
          <p:cNvPr id="17" name="Shape 15"/>
          <p:cNvSpPr/>
          <p:nvPr/>
        </p:nvSpPr>
        <p:spPr>
          <a:xfrm>
            <a:off x="6432534" y="4190791"/>
            <a:ext cx="152400" cy="152400"/>
          </a:xfrm>
          <a:prstGeom prst="roundRect">
            <a:avLst>
              <a:gd name="adj" fmla="val 25000"/>
            </a:avLst>
          </a:prstGeom>
          <a:solidFill>
            <a:srgbClr val="39FF88"/>
          </a:solidFill>
          <a:ln/>
        </p:spPr>
      </p:sp>
      <p:sp>
        <p:nvSpPr>
          <p:cNvPr id="18" name="Text 16"/>
          <p:cNvSpPr/>
          <p:nvPr/>
        </p:nvSpPr>
        <p:spPr>
          <a:xfrm>
            <a:off x="6432534" y="4495590"/>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Headers you can see</a:t>
            </a:r>
            <a:endParaRPr lang="en-US" sz="1600" dirty="0"/>
          </a:p>
        </p:txBody>
      </p:sp>
      <p:sp>
        <p:nvSpPr>
          <p:cNvPr id="19" name="Text 17"/>
          <p:cNvSpPr/>
          <p:nvPr/>
        </p:nvSpPr>
        <p:spPr>
          <a:xfrm>
            <a:off x="6432534" y="4838489"/>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Fetch the live page’s headers from the terminal, or paste the address into a header-scoring site, and read the policy back.</a:t>
            </a:r>
            <a:endParaRPr lang="en-US" sz="1300" dirty="0"/>
          </a:p>
        </p:txBody>
      </p:sp>
      <p:sp>
        <p:nvSpPr>
          <p:cNvPr id="20" name="Text 18"/>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4 · production grade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CONTINUOUS INTEGRATION</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Nothing deploys untested</a:t>
            </a:r>
            <a:endParaRPr lang="en-US" sz="3600" dirty="0"/>
          </a:p>
        </p:txBody>
      </p:sp>
      <p:sp>
        <p:nvSpPr>
          <p:cNvPr id="4" name="Shape 2"/>
          <p:cNvSpPr/>
          <p:nvPr/>
        </p:nvSpPr>
        <p:spPr>
          <a:xfrm>
            <a:off x="812798" y="2020486"/>
            <a:ext cx="2181220" cy="2031796"/>
          </a:xfrm>
          <a:prstGeom prst="roundRect">
            <a:avLst>
              <a:gd name="adj" fmla="val 3750"/>
            </a:avLst>
          </a:prstGeom>
          <a:solidFill>
            <a:srgbClr val="111812"/>
          </a:solidFill>
          <a:ln w="9525">
            <a:solidFill>
              <a:srgbClr val="24402C"/>
            </a:solidFill>
            <a:prstDash val="solid"/>
          </a:ln>
        </p:spPr>
      </p:sp>
      <p:sp>
        <p:nvSpPr>
          <p:cNvPr id="5" name="Text 3"/>
          <p:cNvSpPr/>
          <p:nvPr/>
        </p:nvSpPr>
        <p:spPr>
          <a:xfrm>
            <a:off x="1022347" y="2230035"/>
            <a:ext cx="1812920" cy="46989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JetBrains Mono" pitchFamily="34" charset="0"/>
                <a:ea typeface="JetBrains Mono" pitchFamily="34" charset="-122"/>
                <a:cs typeface="JetBrains Mono" pitchFamily="34" charset="-120"/>
              </a:rPr>
              <a:t>push or pull request</a:t>
            </a:r>
            <a:endParaRPr lang="en-US" sz="1400" dirty="0"/>
          </a:p>
        </p:txBody>
      </p:sp>
      <p:sp>
        <p:nvSpPr>
          <p:cNvPr id="6" name="Text 4"/>
          <p:cNvSpPr/>
          <p:nvPr/>
        </p:nvSpPr>
        <p:spPr>
          <a:xfrm>
            <a:off x="1022347" y="2776134"/>
            <a:ext cx="1812920" cy="106659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Every branch, PR and push to main. Newer pushes cancel older branch runs; main runs queue.</a:t>
            </a:r>
            <a:endParaRPr lang="en-US" sz="1200" dirty="0"/>
          </a:p>
        </p:txBody>
      </p:sp>
      <p:sp>
        <p:nvSpPr>
          <p:cNvPr id="7" name="Shape 5"/>
          <p:cNvSpPr/>
          <p:nvPr/>
        </p:nvSpPr>
        <p:spPr>
          <a:xfrm>
            <a:off x="3146417" y="3036384"/>
            <a:ext cx="304799" cy="0"/>
          </a:xfrm>
          <a:prstGeom prst="line">
            <a:avLst/>
          </a:prstGeom>
          <a:noFill/>
          <a:ln w="19050">
            <a:solidFill>
              <a:srgbClr val="39FF88"/>
            </a:solidFill>
            <a:prstDash val="solid"/>
            <a:tailEnd type="triangle"/>
          </a:ln>
        </p:spPr>
      </p:sp>
      <p:sp>
        <p:nvSpPr>
          <p:cNvPr id="8" name="Shape 6"/>
          <p:cNvSpPr/>
          <p:nvPr/>
        </p:nvSpPr>
        <p:spPr>
          <a:xfrm>
            <a:off x="3603616" y="2244620"/>
            <a:ext cx="2181220" cy="1583527"/>
          </a:xfrm>
          <a:prstGeom prst="roundRect">
            <a:avLst>
              <a:gd name="adj" fmla="val 4812"/>
            </a:avLst>
          </a:prstGeom>
          <a:solidFill>
            <a:srgbClr val="111812"/>
          </a:solidFill>
          <a:ln w="9525">
            <a:solidFill>
              <a:srgbClr val="24402C"/>
            </a:solidFill>
            <a:prstDash val="solid"/>
          </a:ln>
        </p:spPr>
      </p:sp>
      <p:sp>
        <p:nvSpPr>
          <p:cNvPr id="9" name="Text 7"/>
          <p:cNvSpPr/>
          <p:nvPr/>
        </p:nvSpPr>
        <p:spPr>
          <a:xfrm>
            <a:off x="3813165" y="2454170"/>
            <a:ext cx="1812920"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JetBrains Mono" pitchFamily="34" charset="0"/>
                <a:ea typeface="JetBrains Mono" pitchFamily="34" charset="-122"/>
                <a:cs typeface="JetBrains Mono" pitchFamily="34" charset="-120"/>
              </a:rPr>
              <a:t>test</a:t>
            </a:r>
            <a:endParaRPr lang="en-US" sz="1400" dirty="0"/>
          </a:p>
        </p:txBody>
      </p:sp>
      <p:sp>
        <p:nvSpPr>
          <p:cNvPr id="10" name="Text 8"/>
          <p:cNvSpPr/>
          <p:nvPr/>
        </p:nvSpPr>
        <p:spPr>
          <a:xfrm>
            <a:off x="3813165" y="2765319"/>
            <a:ext cx="1812920" cy="85327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Typecheck, unit and end-to-end tests, the build, and a check that the headers file shipped.</a:t>
            </a:r>
            <a:endParaRPr lang="en-US" sz="1200" dirty="0"/>
          </a:p>
        </p:txBody>
      </p:sp>
      <p:sp>
        <p:nvSpPr>
          <p:cNvPr id="11" name="Shape 9"/>
          <p:cNvSpPr/>
          <p:nvPr/>
        </p:nvSpPr>
        <p:spPr>
          <a:xfrm>
            <a:off x="5937235" y="3036384"/>
            <a:ext cx="304799" cy="0"/>
          </a:xfrm>
          <a:prstGeom prst="line">
            <a:avLst/>
          </a:prstGeom>
          <a:noFill/>
          <a:ln w="19050">
            <a:solidFill>
              <a:srgbClr val="39FF88"/>
            </a:solidFill>
            <a:prstDash val="solid"/>
            <a:tailEnd type="triangle"/>
          </a:ln>
        </p:spPr>
      </p:sp>
      <p:sp>
        <p:nvSpPr>
          <p:cNvPr id="12" name="Shape 10"/>
          <p:cNvSpPr/>
          <p:nvPr/>
        </p:nvSpPr>
        <p:spPr>
          <a:xfrm>
            <a:off x="6394434" y="2244620"/>
            <a:ext cx="2181220" cy="1583527"/>
          </a:xfrm>
          <a:prstGeom prst="roundRect">
            <a:avLst>
              <a:gd name="adj" fmla="val 4812"/>
            </a:avLst>
          </a:prstGeom>
          <a:solidFill>
            <a:srgbClr val="111812"/>
          </a:solidFill>
          <a:ln w="9525">
            <a:solidFill>
              <a:srgbClr val="24402C"/>
            </a:solidFill>
            <a:prstDash val="solid"/>
          </a:ln>
        </p:spPr>
      </p:sp>
      <p:sp>
        <p:nvSpPr>
          <p:cNvPr id="13" name="Text 11"/>
          <p:cNvSpPr/>
          <p:nvPr/>
        </p:nvSpPr>
        <p:spPr>
          <a:xfrm>
            <a:off x="6603983" y="2454170"/>
            <a:ext cx="1812920"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JetBrains Mono" pitchFamily="34" charset="0"/>
                <a:ea typeface="JetBrains Mono" pitchFamily="34" charset="-122"/>
                <a:cs typeface="JetBrains Mono" pitchFamily="34" charset="-120"/>
              </a:rPr>
              <a:t>audit</a:t>
            </a:r>
            <a:endParaRPr lang="en-US" sz="1400" dirty="0"/>
          </a:p>
        </p:txBody>
      </p:sp>
      <p:sp>
        <p:nvSpPr>
          <p:cNvPr id="14" name="Text 12"/>
          <p:cNvSpPr/>
          <p:nvPr/>
        </p:nvSpPr>
        <p:spPr>
          <a:xfrm>
            <a:off x="6603983" y="2765319"/>
            <a:ext cx="1812920" cy="85327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Production dependencies only. A high or critical advisory blocks; a dev-only one does not.</a:t>
            </a:r>
            <a:endParaRPr lang="en-US" sz="1200" dirty="0"/>
          </a:p>
        </p:txBody>
      </p:sp>
      <p:sp>
        <p:nvSpPr>
          <p:cNvPr id="15" name="Shape 13"/>
          <p:cNvSpPr/>
          <p:nvPr/>
        </p:nvSpPr>
        <p:spPr>
          <a:xfrm>
            <a:off x="8728053" y="3036384"/>
            <a:ext cx="304799" cy="0"/>
          </a:xfrm>
          <a:prstGeom prst="line">
            <a:avLst/>
          </a:prstGeom>
          <a:noFill/>
          <a:ln w="19050">
            <a:solidFill>
              <a:srgbClr val="39FF88"/>
            </a:solidFill>
            <a:prstDash val="solid"/>
            <a:tailEnd type="triangle"/>
          </a:ln>
        </p:spPr>
      </p:sp>
      <p:sp>
        <p:nvSpPr>
          <p:cNvPr id="16" name="Shape 14"/>
          <p:cNvSpPr/>
          <p:nvPr/>
        </p:nvSpPr>
        <p:spPr>
          <a:xfrm>
            <a:off x="9185252" y="2131610"/>
            <a:ext cx="2193920" cy="1809547"/>
          </a:xfrm>
          <a:prstGeom prst="roundRect">
            <a:avLst>
              <a:gd name="adj" fmla="val 4211"/>
            </a:avLst>
          </a:prstGeom>
          <a:solidFill>
            <a:srgbClr val="16201A"/>
          </a:solidFill>
          <a:ln w="12700">
            <a:solidFill>
              <a:srgbClr val="39FF88"/>
            </a:solidFill>
            <a:prstDash val="solid"/>
          </a:ln>
        </p:spPr>
      </p:sp>
      <p:sp>
        <p:nvSpPr>
          <p:cNvPr id="17" name="Text 15"/>
          <p:cNvSpPr/>
          <p:nvPr/>
        </p:nvSpPr>
        <p:spPr>
          <a:xfrm>
            <a:off x="9401151" y="2347510"/>
            <a:ext cx="1812920"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JetBrains Mono" pitchFamily="34" charset="0"/>
                <a:ea typeface="JetBrains Mono" pitchFamily="34" charset="-122"/>
                <a:cs typeface="JetBrains Mono" pitchFamily="34" charset="-120"/>
              </a:rPr>
              <a:t>deploy</a:t>
            </a:r>
            <a:endParaRPr lang="en-US" sz="1400" dirty="0"/>
          </a:p>
        </p:txBody>
      </p:sp>
      <p:sp>
        <p:nvSpPr>
          <p:cNvPr id="18" name="Text 16"/>
          <p:cNvSpPr/>
          <p:nvPr/>
        </p:nvSpPr>
        <p:spPr>
          <a:xfrm>
            <a:off x="9401151" y="2658659"/>
            <a:ext cx="1812920" cy="106659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Main only, after both pass. Uploads the build the test job produced. Skips itself without the Cloudflare secrets.</a:t>
            </a:r>
            <a:endParaRPr lang="en-US" sz="1200" dirty="0"/>
          </a:p>
        </p:txBody>
      </p:sp>
      <p:sp>
        <p:nvSpPr>
          <p:cNvPr id="19" name="Shape 17"/>
          <p:cNvSpPr/>
          <p:nvPr/>
        </p:nvSpPr>
        <p:spPr>
          <a:xfrm>
            <a:off x="812798" y="4306281"/>
            <a:ext cx="3386625" cy="1131488"/>
          </a:xfrm>
          <a:prstGeom prst="roundRect">
            <a:avLst>
              <a:gd name="adj" fmla="val 6734"/>
            </a:avLst>
          </a:prstGeom>
          <a:solidFill>
            <a:srgbClr val="111812"/>
          </a:solidFill>
          <a:ln w="9525">
            <a:solidFill>
              <a:srgbClr val="24402C"/>
            </a:solidFill>
            <a:prstDash val="solid"/>
          </a:ln>
        </p:spPr>
      </p:sp>
      <p:sp>
        <p:nvSpPr>
          <p:cNvPr id="20" name="Text 18"/>
          <p:cNvSpPr/>
          <p:nvPr/>
        </p:nvSpPr>
        <p:spPr>
          <a:xfrm>
            <a:off x="1022347" y="4515831"/>
            <a:ext cx="3018326" cy="234949"/>
          </a:xfrm>
          <a:prstGeom prst="rect">
            <a:avLst/>
          </a:prstGeom>
          <a:noFill/>
          <a:ln/>
        </p:spPr>
        <p:txBody>
          <a:bodyPr wrap="square" lIns="0" tIns="0" rIns="0" bIns="0" rtlCol="0" anchor="t"/>
          <a:lstStyle/>
          <a:p>
            <a:pPr algn="l" indent="0" marL="0">
              <a:lnSpc>
                <a:spcPts val="1680"/>
              </a:lnSpc>
              <a:buNone/>
            </a:pPr>
            <a:r>
              <a:rPr lang="en-US" sz="1400" b="1" dirty="0">
                <a:solidFill>
                  <a:srgbClr val="F4F6F1"/>
                </a:solidFill>
                <a:latin typeface="IBM Plex Sans" pitchFamily="34" charset="0"/>
                <a:ea typeface="IBM Plex Sans" pitchFamily="34" charset="-122"/>
                <a:cs typeface="IBM Plex Sans" pitchFamily="34" charset="-120"/>
              </a:rPr>
              <a:t>Failures keep the evidence</a:t>
            </a:r>
            <a:endParaRPr lang="en-US" sz="1400" dirty="0"/>
          </a:p>
        </p:txBody>
      </p:sp>
      <p:sp>
        <p:nvSpPr>
          <p:cNvPr id="21" name="Text 19"/>
          <p:cNvSpPr/>
          <p:nvPr/>
        </p:nvSpPr>
        <p:spPr>
          <a:xfrm>
            <a:off x="1022347" y="4801580"/>
            <a:ext cx="3018326"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Report, screenshots, video and trace stay attached to the failed run.</a:t>
            </a:r>
            <a:endParaRPr lang="en-US" sz="1200" dirty="0"/>
          </a:p>
        </p:txBody>
      </p:sp>
      <p:sp>
        <p:nvSpPr>
          <p:cNvPr id="22" name="Shape 20"/>
          <p:cNvSpPr/>
          <p:nvPr/>
        </p:nvSpPr>
        <p:spPr>
          <a:xfrm>
            <a:off x="4402623" y="4306281"/>
            <a:ext cx="3386724" cy="1131488"/>
          </a:xfrm>
          <a:prstGeom prst="roundRect">
            <a:avLst>
              <a:gd name="adj" fmla="val 6734"/>
            </a:avLst>
          </a:prstGeom>
          <a:solidFill>
            <a:srgbClr val="111812"/>
          </a:solidFill>
          <a:ln w="9525">
            <a:solidFill>
              <a:srgbClr val="24402C"/>
            </a:solidFill>
            <a:prstDash val="solid"/>
          </a:ln>
        </p:spPr>
      </p:sp>
      <p:sp>
        <p:nvSpPr>
          <p:cNvPr id="23" name="Text 21"/>
          <p:cNvSpPr/>
          <p:nvPr/>
        </p:nvSpPr>
        <p:spPr>
          <a:xfrm>
            <a:off x="4612172" y="4515831"/>
            <a:ext cx="3018425" cy="234949"/>
          </a:xfrm>
          <a:prstGeom prst="rect">
            <a:avLst/>
          </a:prstGeom>
          <a:noFill/>
          <a:ln/>
        </p:spPr>
        <p:txBody>
          <a:bodyPr wrap="square" lIns="0" tIns="0" rIns="0" bIns="0" rtlCol="0" anchor="t"/>
          <a:lstStyle/>
          <a:p>
            <a:pPr algn="l" indent="0" marL="0">
              <a:lnSpc>
                <a:spcPts val="1680"/>
              </a:lnSpc>
              <a:buNone/>
            </a:pPr>
            <a:r>
              <a:rPr lang="en-US" sz="1400" b="1" dirty="0">
                <a:solidFill>
                  <a:srgbClr val="F4F6F1"/>
                </a:solidFill>
                <a:latin typeface="IBM Plex Sans" pitchFamily="34" charset="0"/>
                <a:ea typeface="IBM Plex Sans" pitchFamily="34" charset="-122"/>
                <a:cs typeface="IBM Plex Sans" pitchFamily="34" charset="-120"/>
              </a:rPr>
              <a:t>Least privilege by default</a:t>
            </a:r>
            <a:endParaRPr lang="en-US" sz="1400" dirty="0"/>
          </a:p>
        </p:txBody>
      </p:sp>
      <p:sp>
        <p:nvSpPr>
          <p:cNvPr id="24" name="Text 22"/>
          <p:cNvSpPr/>
          <p:nvPr/>
        </p:nvSpPr>
        <p:spPr>
          <a:xfrm>
            <a:off x="4612172" y="4801580"/>
            <a:ext cx="3018425"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A read-only token; only the deploy job may write. Fork PRs never see secrets.</a:t>
            </a:r>
            <a:endParaRPr lang="en-US" sz="1200" dirty="0"/>
          </a:p>
        </p:txBody>
      </p:sp>
      <p:sp>
        <p:nvSpPr>
          <p:cNvPr id="25" name="Shape 23"/>
          <p:cNvSpPr/>
          <p:nvPr/>
        </p:nvSpPr>
        <p:spPr>
          <a:xfrm>
            <a:off x="7992546" y="4306281"/>
            <a:ext cx="3386625" cy="1131488"/>
          </a:xfrm>
          <a:prstGeom prst="roundRect">
            <a:avLst>
              <a:gd name="adj" fmla="val 6734"/>
            </a:avLst>
          </a:prstGeom>
          <a:solidFill>
            <a:srgbClr val="111812"/>
          </a:solidFill>
          <a:ln w="9525">
            <a:solidFill>
              <a:srgbClr val="24402C"/>
            </a:solidFill>
            <a:prstDash val="solid"/>
          </a:ln>
        </p:spPr>
      </p:sp>
      <p:sp>
        <p:nvSpPr>
          <p:cNvPr id="26" name="Text 24"/>
          <p:cNvSpPr/>
          <p:nvPr/>
        </p:nvSpPr>
        <p:spPr>
          <a:xfrm>
            <a:off x="8202096" y="4515831"/>
            <a:ext cx="3018326" cy="234949"/>
          </a:xfrm>
          <a:prstGeom prst="rect">
            <a:avLst/>
          </a:prstGeom>
          <a:noFill/>
          <a:ln/>
        </p:spPr>
        <p:txBody>
          <a:bodyPr wrap="square" lIns="0" tIns="0" rIns="0" bIns="0" rtlCol="0" anchor="t"/>
          <a:lstStyle/>
          <a:p>
            <a:pPr algn="l" indent="0" marL="0">
              <a:lnSpc>
                <a:spcPts val="1680"/>
              </a:lnSpc>
              <a:buNone/>
            </a:pPr>
            <a:r>
              <a:rPr lang="en-US" sz="1400" b="1" dirty="0">
                <a:solidFill>
                  <a:srgbClr val="F4F6F1"/>
                </a:solidFill>
                <a:latin typeface="IBM Plex Sans" pitchFamily="34" charset="0"/>
                <a:ea typeface="IBM Plex Sans" pitchFamily="34" charset="-122"/>
                <a:cs typeface="IBM Plex Sans" pitchFamily="34" charset="-120"/>
              </a:rPr>
              <a:t>Dependencies stay current</a:t>
            </a:r>
            <a:endParaRPr lang="en-US" sz="1400" dirty="0"/>
          </a:p>
        </p:txBody>
      </p:sp>
      <p:sp>
        <p:nvSpPr>
          <p:cNvPr id="27" name="Text 25"/>
          <p:cNvSpPr/>
          <p:nvPr/>
        </p:nvSpPr>
        <p:spPr>
          <a:xfrm>
            <a:off x="8202096" y="4801580"/>
            <a:ext cx="3018326"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Weekly update PRs for packages and actions, tested by this same pipeline.</a:t>
            </a:r>
            <a:endParaRPr lang="en-US" sz="1200" dirty="0"/>
          </a:p>
        </p:txBody>
      </p:sp>
      <p:sp>
        <p:nvSpPr>
          <p:cNvPr id="28" name="Text 26"/>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4 · production grade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SECURITY HEADERS</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Injected code has nowhere to run</a:t>
            </a:r>
            <a:endParaRPr lang="en-US" sz="3600" dirty="0"/>
          </a:p>
        </p:txBody>
      </p:sp>
      <p:sp>
        <p:nvSpPr>
          <p:cNvPr id="4" name="Shape 2"/>
          <p:cNvSpPr/>
          <p:nvPr/>
        </p:nvSpPr>
        <p:spPr>
          <a:xfrm>
            <a:off x="812798" y="2020486"/>
            <a:ext cx="7061182" cy="3665925"/>
          </a:xfrm>
          <a:prstGeom prst="rect">
            <a:avLst/>
          </a:prstGeom>
          <a:ln w="9525">
            <a:solidFill>
              <a:srgbClr val="24402C"/>
            </a:solidFill>
            <a:prstDash val="solid"/>
          </a:ln>
        </p:spPr>
      </p:sp>
      <p:sp>
        <p:nvSpPr>
          <p:cNvPr id="5" name="Shape 3"/>
          <p:cNvSpPr/>
          <p:nvPr/>
        </p:nvSpPr>
        <p:spPr>
          <a:xfrm>
            <a:off x="815973" y="2023661"/>
            <a:ext cx="7054832" cy="337740"/>
          </a:xfrm>
          <a:prstGeom prst="rect">
            <a:avLst/>
          </a:prstGeom>
          <a:solidFill>
            <a:srgbClr val="16201A"/>
          </a:solidFill>
          <a:ln/>
        </p:spPr>
      </p:sp>
      <p:sp>
        <p:nvSpPr>
          <p:cNvPr id="6" name="Text 4"/>
          <p:cNvSpPr/>
          <p:nvPr/>
        </p:nvSpPr>
        <p:spPr>
          <a:xfrm>
            <a:off x="915033" y="2081445"/>
            <a:ext cx="2815642" cy="222170"/>
          </a:xfrm>
          <a:prstGeom prst="rect">
            <a:avLst/>
          </a:prstGeom>
          <a:noFill/>
          <a:ln/>
        </p:spPr>
        <p:txBody>
          <a:bodyPr wrap="square" lIns="0" tIns="0" rIns="0" bIns="0" rtlCol="0" anchor="t"/>
          <a:lstStyle/>
          <a:p>
            <a:pPr algn="l" indent="0" marL="0">
              <a:lnSpc>
                <a:spcPts val="1560"/>
              </a:lnSpc>
              <a:buNone/>
            </a:pPr>
            <a:r>
              <a:rPr lang="en-US" sz="1300" b="1" dirty="0">
                <a:solidFill>
                  <a:srgbClr val="39FF88"/>
                </a:solidFill>
                <a:latin typeface="IBM Plex Sans" pitchFamily="34" charset="0"/>
                <a:ea typeface="IBM Plex Sans" pitchFamily="34" charset="-122"/>
                <a:cs typeface="IBM Plex Sans" pitchFamily="34" charset="-120"/>
              </a:rPr>
              <a:t>Header</a:t>
            </a:r>
            <a:endParaRPr lang="en-US" sz="1300" dirty="0"/>
          </a:p>
        </p:txBody>
      </p:sp>
      <p:sp>
        <p:nvSpPr>
          <p:cNvPr id="7" name="Text 5"/>
          <p:cNvSpPr/>
          <p:nvPr/>
        </p:nvSpPr>
        <p:spPr>
          <a:xfrm>
            <a:off x="3877995" y="2081445"/>
            <a:ext cx="3944551" cy="222170"/>
          </a:xfrm>
          <a:prstGeom prst="rect">
            <a:avLst/>
          </a:prstGeom>
          <a:noFill/>
          <a:ln/>
        </p:spPr>
        <p:txBody>
          <a:bodyPr wrap="square" lIns="0" tIns="0" rIns="0" bIns="0" rtlCol="0" anchor="t"/>
          <a:lstStyle/>
          <a:p>
            <a:pPr algn="l" indent="0" marL="0">
              <a:lnSpc>
                <a:spcPts val="1560"/>
              </a:lnSpc>
              <a:buNone/>
            </a:pPr>
            <a:r>
              <a:rPr lang="en-US" sz="1300" b="1" dirty="0">
                <a:solidFill>
                  <a:srgbClr val="39FF88"/>
                </a:solidFill>
                <a:latin typeface="IBM Plex Sans" pitchFamily="34" charset="0"/>
                <a:ea typeface="IBM Plex Sans" pitchFamily="34" charset="-122"/>
                <a:cs typeface="IBM Plex Sans" pitchFamily="34" charset="-120"/>
              </a:rPr>
              <a:t>What it buys</a:t>
            </a:r>
            <a:endParaRPr lang="en-US" sz="1300" dirty="0"/>
          </a:p>
        </p:txBody>
      </p:sp>
      <p:sp>
        <p:nvSpPr>
          <p:cNvPr id="8" name="Shape 6"/>
          <p:cNvSpPr/>
          <p:nvPr/>
        </p:nvSpPr>
        <p:spPr>
          <a:xfrm>
            <a:off x="815973" y="2361400"/>
            <a:ext cx="7054832" cy="0"/>
          </a:xfrm>
          <a:prstGeom prst="line">
            <a:avLst/>
          </a:prstGeom>
          <a:noFill/>
          <a:ln w="6350">
            <a:solidFill>
              <a:srgbClr val="24402C"/>
            </a:solidFill>
            <a:prstDash val="solid"/>
          </a:ln>
        </p:spPr>
      </p:sp>
      <p:sp>
        <p:nvSpPr>
          <p:cNvPr id="9" name="Text 7"/>
          <p:cNvSpPr/>
          <p:nvPr/>
        </p:nvSpPr>
        <p:spPr>
          <a:xfrm>
            <a:off x="915033" y="2419185"/>
            <a:ext cx="2815642" cy="4380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Content Security Policy</a:t>
            </a:r>
            <a:endParaRPr lang="en-US" sz="1300" dirty="0"/>
          </a:p>
        </p:txBody>
      </p:sp>
      <p:sp>
        <p:nvSpPr>
          <p:cNvPr id="10" name="Text 8"/>
          <p:cNvSpPr/>
          <p:nvPr/>
        </p:nvSpPr>
        <p:spPr>
          <a:xfrm>
            <a:off x="3877995" y="2419185"/>
            <a:ext cx="3944551" cy="4380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Only same-origin scripts run, none inline. Fonts and styles may also come from Google Fonts.</a:t>
            </a:r>
            <a:endParaRPr lang="en-US" sz="1300" dirty="0"/>
          </a:p>
        </p:txBody>
      </p:sp>
      <p:sp>
        <p:nvSpPr>
          <p:cNvPr id="11" name="Shape 9"/>
          <p:cNvSpPr/>
          <p:nvPr/>
        </p:nvSpPr>
        <p:spPr>
          <a:xfrm>
            <a:off x="815973" y="2915040"/>
            <a:ext cx="7054832" cy="0"/>
          </a:xfrm>
          <a:prstGeom prst="line">
            <a:avLst/>
          </a:prstGeom>
          <a:noFill/>
          <a:ln w="6350">
            <a:solidFill>
              <a:srgbClr val="24402C"/>
            </a:solidFill>
            <a:prstDash val="solid"/>
          </a:ln>
        </p:spPr>
      </p:sp>
      <p:sp>
        <p:nvSpPr>
          <p:cNvPr id="12" name="Shape 10"/>
          <p:cNvSpPr/>
          <p:nvPr/>
        </p:nvSpPr>
        <p:spPr>
          <a:xfrm>
            <a:off x="815973" y="2915040"/>
            <a:ext cx="7054832" cy="553639"/>
          </a:xfrm>
          <a:prstGeom prst="rect">
            <a:avLst/>
          </a:prstGeom>
          <a:solidFill>
            <a:srgbClr val="111812"/>
          </a:solidFill>
          <a:ln/>
        </p:spPr>
      </p:sp>
      <p:sp>
        <p:nvSpPr>
          <p:cNvPr id="13" name="Text 11"/>
          <p:cNvSpPr/>
          <p:nvPr/>
        </p:nvSpPr>
        <p:spPr>
          <a:xfrm>
            <a:off x="915033" y="2972824"/>
            <a:ext cx="2815642" cy="4380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Frame ancestors, X-Frame-Options</a:t>
            </a:r>
            <a:endParaRPr lang="en-US" sz="1300" dirty="0"/>
          </a:p>
        </p:txBody>
      </p:sp>
      <p:sp>
        <p:nvSpPr>
          <p:cNvPr id="14" name="Text 12"/>
          <p:cNvSpPr/>
          <p:nvPr/>
        </p:nvSpPr>
        <p:spPr>
          <a:xfrm>
            <a:off x="3877995" y="2972824"/>
            <a:ext cx="3944551" cy="4380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No site can put the app in a frame. Ends click-jacking.</a:t>
            </a:r>
            <a:endParaRPr lang="en-US" sz="1300" dirty="0"/>
          </a:p>
        </p:txBody>
      </p:sp>
      <p:sp>
        <p:nvSpPr>
          <p:cNvPr id="15" name="Shape 13"/>
          <p:cNvSpPr/>
          <p:nvPr/>
        </p:nvSpPr>
        <p:spPr>
          <a:xfrm>
            <a:off x="815973" y="3468679"/>
            <a:ext cx="7054832" cy="0"/>
          </a:xfrm>
          <a:prstGeom prst="line">
            <a:avLst/>
          </a:prstGeom>
          <a:noFill/>
          <a:ln w="6350">
            <a:solidFill>
              <a:srgbClr val="24402C"/>
            </a:solidFill>
            <a:prstDash val="solid"/>
          </a:ln>
        </p:spPr>
      </p:sp>
      <p:sp>
        <p:nvSpPr>
          <p:cNvPr id="16" name="Text 14"/>
          <p:cNvSpPr/>
          <p:nvPr/>
        </p:nvSpPr>
        <p:spPr>
          <a:xfrm>
            <a:off x="915033" y="3526464"/>
            <a:ext cx="2815642" cy="4380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Referrer-Policy</a:t>
            </a:r>
            <a:endParaRPr lang="en-US" sz="1300" dirty="0"/>
          </a:p>
        </p:txBody>
      </p:sp>
      <p:sp>
        <p:nvSpPr>
          <p:cNvPr id="17" name="Text 15"/>
          <p:cNvSpPr/>
          <p:nvPr/>
        </p:nvSpPr>
        <p:spPr>
          <a:xfrm>
            <a:off x="3877995" y="3526464"/>
            <a:ext cx="3944551" cy="4380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The app’s address never leaks to the font host or anywhere else.</a:t>
            </a:r>
            <a:endParaRPr lang="en-US" sz="1300" dirty="0"/>
          </a:p>
        </p:txBody>
      </p:sp>
      <p:sp>
        <p:nvSpPr>
          <p:cNvPr id="18" name="Shape 16"/>
          <p:cNvSpPr/>
          <p:nvPr/>
        </p:nvSpPr>
        <p:spPr>
          <a:xfrm>
            <a:off x="815973" y="4022318"/>
            <a:ext cx="7054832" cy="0"/>
          </a:xfrm>
          <a:prstGeom prst="line">
            <a:avLst/>
          </a:prstGeom>
          <a:noFill/>
          <a:ln w="6350">
            <a:solidFill>
              <a:srgbClr val="24402C"/>
            </a:solidFill>
            <a:prstDash val="solid"/>
          </a:ln>
        </p:spPr>
      </p:sp>
      <p:sp>
        <p:nvSpPr>
          <p:cNvPr id="19" name="Shape 17"/>
          <p:cNvSpPr/>
          <p:nvPr/>
        </p:nvSpPr>
        <p:spPr>
          <a:xfrm>
            <a:off x="815973" y="4022318"/>
            <a:ext cx="7054832" cy="553639"/>
          </a:xfrm>
          <a:prstGeom prst="rect">
            <a:avLst/>
          </a:prstGeom>
          <a:solidFill>
            <a:srgbClr val="111812"/>
          </a:solidFill>
          <a:ln/>
        </p:spPr>
      </p:sp>
      <p:sp>
        <p:nvSpPr>
          <p:cNvPr id="20" name="Text 18"/>
          <p:cNvSpPr/>
          <p:nvPr/>
        </p:nvSpPr>
        <p:spPr>
          <a:xfrm>
            <a:off x="915033" y="4080103"/>
            <a:ext cx="2815642" cy="4380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Permissions-Policy</a:t>
            </a:r>
            <a:endParaRPr lang="en-US" sz="1300" dirty="0"/>
          </a:p>
        </p:txBody>
      </p:sp>
      <p:sp>
        <p:nvSpPr>
          <p:cNvPr id="21" name="Text 19"/>
          <p:cNvSpPr/>
          <p:nvPr/>
        </p:nvSpPr>
        <p:spPr>
          <a:xfrm>
            <a:off x="3877995" y="4080103"/>
            <a:ext cx="3944551" cy="4380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Camera, microphone, location and payment are switched off for the page.</a:t>
            </a:r>
            <a:endParaRPr lang="en-US" sz="1300" dirty="0"/>
          </a:p>
        </p:txBody>
      </p:sp>
      <p:sp>
        <p:nvSpPr>
          <p:cNvPr id="22" name="Shape 20"/>
          <p:cNvSpPr/>
          <p:nvPr/>
        </p:nvSpPr>
        <p:spPr>
          <a:xfrm>
            <a:off x="815973" y="4575957"/>
            <a:ext cx="7054832" cy="0"/>
          </a:xfrm>
          <a:prstGeom prst="line">
            <a:avLst/>
          </a:prstGeom>
          <a:noFill/>
          <a:ln w="6350">
            <a:solidFill>
              <a:srgbClr val="24402C"/>
            </a:solidFill>
            <a:prstDash val="solid"/>
          </a:ln>
        </p:spPr>
      </p:sp>
      <p:sp>
        <p:nvSpPr>
          <p:cNvPr id="23" name="Text 21"/>
          <p:cNvSpPr/>
          <p:nvPr/>
        </p:nvSpPr>
        <p:spPr>
          <a:xfrm>
            <a:off x="915033" y="4633742"/>
            <a:ext cx="2815642" cy="4380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Strict-Transport-Security</a:t>
            </a:r>
            <a:endParaRPr lang="en-US" sz="1300" dirty="0"/>
          </a:p>
        </p:txBody>
      </p:sp>
      <p:sp>
        <p:nvSpPr>
          <p:cNvPr id="24" name="Text 22"/>
          <p:cNvSpPr/>
          <p:nvPr/>
        </p:nvSpPr>
        <p:spPr>
          <a:xfrm>
            <a:off x="3877995" y="4633742"/>
            <a:ext cx="3944551" cy="4380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A browser that has seen the site once only ever uses HTTPS.</a:t>
            </a:r>
            <a:endParaRPr lang="en-US" sz="1300" dirty="0"/>
          </a:p>
        </p:txBody>
      </p:sp>
      <p:sp>
        <p:nvSpPr>
          <p:cNvPr id="25" name="Shape 23"/>
          <p:cNvSpPr/>
          <p:nvPr/>
        </p:nvSpPr>
        <p:spPr>
          <a:xfrm>
            <a:off x="815973" y="5129597"/>
            <a:ext cx="7054832" cy="0"/>
          </a:xfrm>
          <a:prstGeom prst="line">
            <a:avLst/>
          </a:prstGeom>
          <a:noFill/>
          <a:ln w="6350">
            <a:solidFill>
              <a:srgbClr val="24402C"/>
            </a:solidFill>
            <a:prstDash val="solid"/>
          </a:ln>
        </p:spPr>
      </p:sp>
      <p:sp>
        <p:nvSpPr>
          <p:cNvPr id="26" name="Shape 24"/>
          <p:cNvSpPr/>
          <p:nvPr/>
        </p:nvSpPr>
        <p:spPr>
          <a:xfrm>
            <a:off x="815973" y="5129597"/>
            <a:ext cx="7054832" cy="553639"/>
          </a:xfrm>
          <a:prstGeom prst="rect">
            <a:avLst/>
          </a:prstGeom>
          <a:solidFill>
            <a:srgbClr val="111812"/>
          </a:solidFill>
          <a:ln/>
        </p:spPr>
      </p:sp>
      <p:sp>
        <p:nvSpPr>
          <p:cNvPr id="27" name="Text 25"/>
          <p:cNvSpPr/>
          <p:nvPr/>
        </p:nvSpPr>
        <p:spPr>
          <a:xfrm>
            <a:off x="915033" y="5187381"/>
            <a:ext cx="2815642" cy="4380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Cache-Control on hashed assets</a:t>
            </a:r>
            <a:endParaRPr lang="en-US" sz="1300" dirty="0"/>
          </a:p>
        </p:txBody>
      </p:sp>
      <p:sp>
        <p:nvSpPr>
          <p:cNvPr id="28" name="Text 26"/>
          <p:cNvSpPr/>
          <p:nvPr/>
        </p:nvSpPr>
        <p:spPr>
          <a:xfrm>
            <a:off x="3877995" y="5187381"/>
            <a:ext cx="3944551" cy="438070"/>
          </a:xfrm>
          <a:prstGeom prst="rect">
            <a:avLst/>
          </a:prstGeom>
          <a:noFill/>
          <a:ln/>
        </p:spPr>
        <p:txBody>
          <a:bodyPr wrap="square" lIns="0" tIns="0" rIns="0" bIns="0" rtlCol="0" anchor="t"/>
          <a:lstStyle/>
          <a:p>
            <a:pPr algn="l" indent="0" marL="0">
              <a:lnSpc>
                <a:spcPts val="1560"/>
              </a:lnSpc>
              <a:buNone/>
            </a:pPr>
            <a:r>
              <a:rPr lang="en-US" sz="1300" dirty="0">
                <a:solidFill>
                  <a:srgbClr val="D7F5DD"/>
                </a:solidFill>
                <a:latin typeface="IBM Plex Sans" pitchFamily="34" charset="0"/>
                <a:ea typeface="IBM Plex Sans" pitchFamily="34" charset="-122"/>
                <a:cs typeface="IBM Plex Sans" pitchFamily="34" charset="-120"/>
              </a:rPr>
              <a:t>A year, immutable. The page itself revalidates, so a deploy shows at once.</a:t>
            </a:r>
            <a:endParaRPr lang="en-US" sz="1300" dirty="0"/>
          </a:p>
        </p:txBody>
      </p:sp>
      <p:sp>
        <p:nvSpPr>
          <p:cNvPr id="29" name="Shape 27"/>
          <p:cNvSpPr/>
          <p:nvPr/>
        </p:nvSpPr>
        <p:spPr>
          <a:xfrm>
            <a:off x="815973" y="5683236"/>
            <a:ext cx="7054832" cy="0"/>
          </a:xfrm>
          <a:prstGeom prst="line">
            <a:avLst/>
          </a:prstGeom>
          <a:noFill/>
          <a:ln w="6350">
            <a:solidFill>
              <a:srgbClr val="24402C"/>
            </a:solidFill>
            <a:prstDash val="solid"/>
          </a:ln>
        </p:spPr>
      </p:sp>
      <p:sp>
        <p:nvSpPr>
          <p:cNvPr id="30" name="Shape 28"/>
          <p:cNvSpPr/>
          <p:nvPr/>
        </p:nvSpPr>
        <p:spPr>
          <a:xfrm>
            <a:off x="8077180" y="2020486"/>
            <a:ext cx="3301992" cy="1281308"/>
          </a:xfrm>
          <a:prstGeom prst="roundRect">
            <a:avLst>
              <a:gd name="adj" fmla="val 5947"/>
            </a:avLst>
          </a:prstGeom>
          <a:solidFill>
            <a:srgbClr val="16201A"/>
          </a:solidFill>
          <a:ln w="12700">
            <a:solidFill>
              <a:srgbClr val="39FF88"/>
            </a:solidFill>
            <a:prstDash val="solid"/>
          </a:ln>
        </p:spPr>
      </p:sp>
      <p:sp>
        <p:nvSpPr>
          <p:cNvPr id="31" name="Text 29"/>
          <p:cNvSpPr/>
          <p:nvPr/>
        </p:nvSpPr>
        <p:spPr>
          <a:xfrm>
            <a:off x="8254979" y="2198285"/>
            <a:ext cx="2997193"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What the policy forced</a:t>
            </a:r>
            <a:endParaRPr lang="en-US" sz="1400" dirty="0"/>
          </a:p>
        </p:txBody>
      </p:sp>
      <p:sp>
        <p:nvSpPr>
          <p:cNvPr id="32" name="Text 30"/>
          <p:cNvSpPr/>
          <p:nvPr/>
        </p:nvSpPr>
        <p:spPr>
          <a:xfrm>
            <a:off x="8254979" y="2484034"/>
            <a:ext cx="2997193"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The theme script was inline in the page, so it moved to its own file. Nothing else changed.</a:t>
            </a:r>
            <a:endParaRPr lang="en-US" sz="1200" dirty="0"/>
          </a:p>
        </p:txBody>
      </p:sp>
      <p:sp>
        <p:nvSpPr>
          <p:cNvPr id="33" name="Shape 31"/>
          <p:cNvSpPr/>
          <p:nvPr/>
        </p:nvSpPr>
        <p:spPr>
          <a:xfrm>
            <a:off x="8077180" y="3428793"/>
            <a:ext cx="3301992" cy="1055288"/>
          </a:xfrm>
          <a:prstGeom prst="roundRect">
            <a:avLst>
              <a:gd name="adj" fmla="val 7221"/>
            </a:avLst>
          </a:prstGeom>
          <a:solidFill>
            <a:srgbClr val="111812"/>
          </a:solidFill>
          <a:ln w="9525">
            <a:solidFill>
              <a:srgbClr val="24402C"/>
            </a:solidFill>
            <a:prstDash val="solid"/>
          </a:ln>
        </p:spPr>
      </p:sp>
      <p:sp>
        <p:nvSpPr>
          <p:cNvPr id="34" name="Text 32"/>
          <p:cNvSpPr/>
          <p:nvPr/>
        </p:nvSpPr>
        <p:spPr>
          <a:xfrm>
            <a:off x="8248629" y="3600243"/>
            <a:ext cx="3009892" cy="234949"/>
          </a:xfrm>
          <a:prstGeom prst="rect">
            <a:avLst/>
          </a:prstGeom>
          <a:noFill/>
          <a:ln/>
        </p:spPr>
        <p:txBody>
          <a:bodyPr wrap="square" lIns="0" tIns="0" rIns="0" bIns="0" rtlCol="0" anchor="t"/>
          <a:lstStyle/>
          <a:p>
            <a:pPr algn="l" indent="0" marL="0">
              <a:lnSpc>
                <a:spcPts val="1680"/>
              </a:lnSpc>
              <a:buNone/>
            </a:pPr>
            <a:r>
              <a:rPr lang="en-US" sz="1400" b="1" dirty="0">
                <a:solidFill>
                  <a:srgbClr val="F4F6F1"/>
                </a:solidFill>
                <a:latin typeface="IBM Plex Sans" pitchFamily="34" charset="0"/>
                <a:ea typeface="IBM Plex Sans" pitchFamily="34" charset="-122"/>
                <a:cs typeface="IBM Plex Sans" pitchFamily="34" charset="-120"/>
              </a:rPr>
              <a:t>A test guards the policy</a:t>
            </a:r>
            <a:endParaRPr lang="en-US" sz="1400" dirty="0"/>
          </a:p>
        </p:txBody>
      </p:sp>
      <p:sp>
        <p:nvSpPr>
          <p:cNvPr id="35" name="Text 33"/>
          <p:cNvSpPr/>
          <p:nvPr/>
        </p:nvSpPr>
        <p:spPr>
          <a:xfrm>
            <a:off x="8248629" y="3885992"/>
            <a:ext cx="3009892"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Weaken a directive or add an inline script, and a unit test fails first.</a:t>
            </a:r>
            <a:endParaRPr lang="en-US" sz="1200" dirty="0"/>
          </a:p>
        </p:txBody>
      </p:sp>
      <p:sp>
        <p:nvSpPr>
          <p:cNvPr id="36" name="Shape 34"/>
          <p:cNvSpPr/>
          <p:nvPr/>
        </p:nvSpPr>
        <p:spPr>
          <a:xfrm>
            <a:off x="8077180" y="4611081"/>
            <a:ext cx="3301992" cy="1268608"/>
          </a:xfrm>
          <a:prstGeom prst="roundRect">
            <a:avLst>
              <a:gd name="adj" fmla="val 6007"/>
            </a:avLst>
          </a:prstGeom>
          <a:solidFill>
            <a:srgbClr val="111812"/>
          </a:solidFill>
          <a:ln w="9525">
            <a:solidFill>
              <a:srgbClr val="24402C"/>
            </a:solidFill>
            <a:prstDash val="solid"/>
          </a:ln>
        </p:spPr>
      </p:sp>
      <p:sp>
        <p:nvSpPr>
          <p:cNvPr id="37" name="Text 35"/>
          <p:cNvSpPr/>
          <p:nvPr/>
        </p:nvSpPr>
        <p:spPr>
          <a:xfrm>
            <a:off x="8248629" y="4782530"/>
            <a:ext cx="3009892" cy="234949"/>
          </a:xfrm>
          <a:prstGeom prst="rect">
            <a:avLst/>
          </a:prstGeom>
          <a:noFill/>
          <a:ln/>
        </p:spPr>
        <p:txBody>
          <a:bodyPr wrap="square" lIns="0" tIns="0" rIns="0" bIns="0" rtlCol="0" anchor="t"/>
          <a:lstStyle/>
          <a:p>
            <a:pPr algn="l" indent="0" marL="0">
              <a:lnSpc>
                <a:spcPts val="1680"/>
              </a:lnSpc>
              <a:buNone/>
            </a:pPr>
            <a:r>
              <a:rPr lang="en-US" sz="1400" b="1" dirty="0">
                <a:solidFill>
                  <a:srgbClr val="F4F6F1"/>
                </a:solidFill>
                <a:latin typeface="IBM Plex Sans" pitchFamily="34" charset="0"/>
                <a:ea typeface="IBM Plex Sans" pitchFamily="34" charset="-122"/>
                <a:cs typeface="IBM Plex Sans" pitchFamily="34" charset="-120"/>
              </a:rPr>
              <a:t>The same headers locally</a:t>
            </a:r>
            <a:endParaRPr lang="en-US" sz="1400" dirty="0"/>
          </a:p>
        </p:txBody>
      </p:sp>
      <p:sp>
        <p:nvSpPr>
          <p:cNvPr id="38" name="Text 36"/>
          <p:cNvSpPr/>
          <p:nvPr/>
        </p:nvSpPr>
        <p:spPr>
          <a:xfrm>
            <a:off x="8248629" y="5068280"/>
            <a:ext cx="3009892"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Preview serves the production build with them, so the policy is checked before deploy.</a:t>
            </a:r>
            <a:endParaRPr lang="en-US" sz="1200" dirty="0"/>
          </a:p>
        </p:txBody>
      </p:sp>
      <p:sp>
        <p:nvSpPr>
          <p:cNvPr id="39" name="Text 37"/>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4 · production grade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HARDENING THE APP ITSELF</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Trust nothing from outside</a:t>
            </a:r>
            <a:endParaRPr lang="en-US" sz="3600" dirty="0"/>
          </a:p>
        </p:txBody>
      </p:sp>
      <p:sp>
        <p:nvSpPr>
          <p:cNvPr id="4" name="Shape 2"/>
          <p:cNvSpPr/>
          <p:nvPr/>
        </p:nvSpPr>
        <p:spPr>
          <a:xfrm>
            <a:off x="812798" y="2020486"/>
            <a:ext cx="3395059" cy="2590496"/>
          </a:xfrm>
          <a:prstGeom prst="roundRect">
            <a:avLst>
              <a:gd name="adj" fmla="val 2942"/>
            </a:avLst>
          </a:prstGeom>
          <a:solidFill>
            <a:srgbClr val="16201A"/>
          </a:solidFill>
          <a:ln w="12700">
            <a:solidFill>
              <a:srgbClr val="39FF88"/>
            </a:solidFill>
            <a:prstDash val="solid"/>
          </a:ln>
        </p:spPr>
      </p:sp>
      <p:sp>
        <p:nvSpPr>
          <p:cNvPr id="5" name="Shape 3"/>
          <p:cNvSpPr/>
          <p:nvPr/>
        </p:nvSpPr>
        <p:spPr>
          <a:xfrm>
            <a:off x="1054097" y="2337985"/>
            <a:ext cx="152400" cy="152400"/>
          </a:xfrm>
          <a:prstGeom prst="roundRect">
            <a:avLst>
              <a:gd name="adj" fmla="val 25000"/>
            </a:avLst>
          </a:prstGeom>
          <a:solidFill>
            <a:srgbClr val="39FF88"/>
          </a:solidFill>
          <a:ln/>
        </p:spPr>
      </p:sp>
      <p:sp>
        <p:nvSpPr>
          <p:cNvPr id="6" name="Text 4"/>
          <p:cNvSpPr/>
          <p:nvPr/>
        </p:nvSpPr>
        <p:spPr>
          <a:xfrm>
            <a:off x="1054097" y="2642784"/>
            <a:ext cx="2963260" cy="49529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Imports are repaired, not trusted</a:t>
            </a:r>
            <a:endParaRPr lang="en-US" sz="1500" dirty="0"/>
          </a:p>
        </p:txBody>
      </p:sp>
      <p:sp>
        <p:nvSpPr>
          <p:cNvPr id="7" name="Text 5"/>
          <p:cNvSpPr/>
          <p:nvPr/>
        </p:nvSpPr>
        <p:spPr>
          <a:xfrm>
            <a:off x="1054097" y="3214283"/>
            <a:ext cx="2963260" cy="1155399"/>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Backups and old browser data go through a sanitiser: bad settings fall back field by field, bad entries are dropped. Pure, in the rules package, contract-tested.</a:t>
            </a:r>
            <a:endParaRPr lang="en-US" sz="1300" dirty="0"/>
          </a:p>
        </p:txBody>
      </p:sp>
      <p:sp>
        <p:nvSpPr>
          <p:cNvPr id="8" name="Shape 6"/>
          <p:cNvSpPr/>
          <p:nvPr/>
        </p:nvSpPr>
        <p:spPr>
          <a:xfrm>
            <a:off x="4411056" y="2020486"/>
            <a:ext cx="3382458" cy="2590496"/>
          </a:xfrm>
          <a:prstGeom prst="roundRect">
            <a:avLst>
              <a:gd name="adj" fmla="val 2942"/>
            </a:avLst>
          </a:prstGeom>
          <a:solidFill>
            <a:srgbClr val="111812"/>
          </a:solidFill>
          <a:ln w="9525">
            <a:solidFill>
              <a:srgbClr val="24402C"/>
            </a:solidFill>
            <a:prstDash val="solid"/>
          </a:ln>
        </p:spPr>
      </p:sp>
      <p:sp>
        <p:nvSpPr>
          <p:cNvPr id="9" name="Shape 7"/>
          <p:cNvSpPr/>
          <p:nvPr/>
        </p:nvSpPr>
        <p:spPr>
          <a:xfrm>
            <a:off x="4646006" y="2331635"/>
            <a:ext cx="152400" cy="152400"/>
          </a:xfrm>
          <a:prstGeom prst="roundRect">
            <a:avLst>
              <a:gd name="adj" fmla="val 25000"/>
            </a:avLst>
          </a:prstGeom>
          <a:solidFill>
            <a:srgbClr val="39FF88"/>
          </a:solidFill>
          <a:ln/>
        </p:spPr>
      </p:sp>
      <p:sp>
        <p:nvSpPr>
          <p:cNvPr id="10" name="Text 8"/>
          <p:cNvSpPr/>
          <p:nvPr/>
        </p:nvSpPr>
        <p:spPr>
          <a:xfrm>
            <a:off x="4646006" y="2636434"/>
            <a:ext cx="2963359" cy="49529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A crash is a message, not a blank page</a:t>
            </a:r>
            <a:endParaRPr lang="en-US" sz="1500" dirty="0"/>
          </a:p>
        </p:txBody>
      </p:sp>
      <p:sp>
        <p:nvSpPr>
          <p:cNvPr id="11" name="Text 9"/>
          <p:cNvSpPr/>
          <p:nvPr/>
        </p:nvSpPr>
        <p:spPr>
          <a:xfrm>
            <a:off x="4646006" y="3207933"/>
            <a:ext cx="2963359" cy="92432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An error boundary shows what went wrong and a reload button, and says the data is safe. If storage is blocked, the app runs in memory.</a:t>
            </a:r>
            <a:endParaRPr lang="en-US" sz="1300" dirty="0"/>
          </a:p>
        </p:txBody>
      </p:sp>
      <p:sp>
        <p:nvSpPr>
          <p:cNvPr id="12" name="Shape 10"/>
          <p:cNvSpPr/>
          <p:nvPr/>
        </p:nvSpPr>
        <p:spPr>
          <a:xfrm>
            <a:off x="7996714" y="2020486"/>
            <a:ext cx="3382458" cy="2590496"/>
          </a:xfrm>
          <a:prstGeom prst="roundRect">
            <a:avLst>
              <a:gd name="adj" fmla="val 2942"/>
            </a:avLst>
          </a:prstGeom>
          <a:solidFill>
            <a:srgbClr val="111812"/>
          </a:solidFill>
          <a:ln w="9525">
            <a:solidFill>
              <a:srgbClr val="24402C"/>
            </a:solidFill>
            <a:prstDash val="solid"/>
          </a:ln>
        </p:spPr>
      </p:sp>
      <p:sp>
        <p:nvSpPr>
          <p:cNvPr id="13" name="Shape 11"/>
          <p:cNvSpPr/>
          <p:nvPr/>
        </p:nvSpPr>
        <p:spPr>
          <a:xfrm>
            <a:off x="8231663" y="2331635"/>
            <a:ext cx="152400" cy="152400"/>
          </a:xfrm>
          <a:prstGeom prst="roundRect">
            <a:avLst>
              <a:gd name="adj" fmla="val 25000"/>
            </a:avLst>
          </a:prstGeom>
          <a:solidFill>
            <a:srgbClr val="39FF88"/>
          </a:solidFill>
          <a:ln/>
        </p:spPr>
      </p:sp>
      <p:sp>
        <p:nvSpPr>
          <p:cNvPr id="14" name="Text 12"/>
          <p:cNvSpPr/>
          <p:nvPr/>
        </p:nvSpPr>
        <p:spPr>
          <a:xfrm>
            <a:off x="8231663" y="2636434"/>
            <a:ext cx="2963359"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The audit reads zero</a:t>
            </a:r>
            <a:endParaRPr lang="en-US" sz="1500" dirty="0"/>
          </a:p>
        </p:txBody>
      </p:sp>
      <p:sp>
        <p:nvSpPr>
          <p:cNvPr id="15" name="Text 13"/>
          <p:cNvSpPr/>
          <p:nvPr/>
        </p:nvSpPr>
        <p:spPr>
          <a:xfrm>
            <a:off x="8231663" y="2960283"/>
            <a:ext cx="2963359" cy="92432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The only advisories were in the test runner. One major bump, every test still green, and the audit reports nothing.</a:t>
            </a:r>
            <a:endParaRPr lang="en-US" sz="1300" dirty="0"/>
          </a:p>
        </p:txBody>
      </p:sp>
      <p:sp>
        <p:nvSpPr>
          <p:cNvPr id="16" name="Text 14"/>
          <p:cNvSpPr/>
          <p:nvPr/>
        </p:nvSpPr>
        <p:spPr>
          <a:xfrm>
            <a:off x="812798" y="4864981"/>
            <a:ext cx="10617173" cy="248840"/>
          </a:xfrm>
          <a:prstGeom prst="rect">
            <a:avLst/>
          </a:prstGeom>
          <a:noFill/>
          <a:ln/>
        </p:spPr>
        <p:txBody>
          <a:bodyPr wrap="square" lIns="0" tIns="0" rIns="0" bIns="0" rtlCol="0" anchor="t"/>
          <a:lstStyle/>
          <a:p>
            <a:pPr algn="l" indent="0" marL="0">
              <a:lnSpc>
                <a:spcPts val="1960"/>
              </a:lnSpc>
              <a:buNone/>
            </a:pPr>
            <a:r>
              <a:rPr lang="en-US" sz="1400" dirty="0">
                <a:solidFill>
                  <a:srgbClr val="A9C9B3"/>
                </a:solidFill>
                <a:latin typeface="IBM Plex Sans" pitchFamily="34" charset="0"/>
                <a:ea typeface="IBM Plex Sans" pitchFamily="34" charset="-122"/>
                <a:cs typeface="IBM Plex Sans" pitchFamily="34" charset="-120"/>
              </a:rPr>
              <a:t>None of this changes a screen. All of it changes what happens on a bad day.</a:t>
            </a:r>
            <a:endParaRPr lang="en-US" sz="1400" dirty="0"/>
          </a:p>
        </p:txBody>
      </p:sp>
      <p:sp>
        <p:nvSpPr>
          <p:cNvPr id="17" name="Text 15"/>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4 · production grade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01A"/>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THE SECURITY REVIEW</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A second reader, before the commit</a:t>
            </a:r>
            <a:endParaRPr lang="en-US" sz="3600" dirty="0"/>
          </a:p>
        </p:txBody>
      </p:sp>
      <p:sp>
        <p:nvSpPr>
          <p:cNvPr id="4" name="Shape 2"/>
          <p:cNvSpPr/>
          <p:nvPr/>
        </p:nvSpPr>
        <p:spPr>
          <a:xfrm>
            <a:off x="812798" y="2020486"/>
            <a:ext cx="5175237" cy="3140067"/>
          </a:xfrm>
          <a:prstGeom prst="roundRect">
            <a:avLst>
              <a:gd name="adj" fmla="val 2427"/>
            </a:avLst>
          </a:prstGeom>
          <a:solidFill>
            <a:srgbClr val="111812"/>
          </a:solidFill>
          <a:ln w="9525">
            <a:solidFill>
              <a:srgbClr val="24402C"/>
            </a:solidFill>
            <a:prstDash val="solid"/>
          </a:ln>
        </p:spPr>
      </p:sp>
      <p:sp>
        <p:nvSpPr>
          <p:cNvPr id="5" name="Text 3"/>
          <p:cNvSpPr/>
          <p:nvPr/>
        </p:nvSpPr>
        <p:spPr>
          <a:xfrm>
            <a:off x="1073147" y="2280835"/>
            <a:ext cx="4705338"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JetBrains Mono" pitchFamily="34" charset="0"/>
                <a:ea typeface="JetBrains Mono" pitchFamily="34" charset="-122"/>
                <a:cs typeface="JetBrains Mono" pitchFamily="34" charset="-120"/>
              </a:rPr>
              <a:t>what it checked</a:t>
            </a:r>
            <a:endParaRPr lang="en-US" sz="1400" dirty="0"/>
          </a:p>
        </p:txBody>
      </p:sp>
      <p:sp>
        <p:nvSpPr>
          <p:cNvPr id="6" name="Text 4"/>
          <p:cNvSpPr/>
          <p:nvPr/>
        </p:nvSpPr>
        <p:spPr>
          <a:xfrm>
            <a:off x="1073147" y="2617384"/>
            <a:ext cx="4705338" cy="2057395"/>
          </a:xfrm>
          <a:prstGeom prst="rect">
            <a:avLst/>
          </a:prstGeom>
          <a:noFill/>
          <a:ln/>
        </p:spPr>
        <p:txBody>
          <a:bodyPr wrap="square" lIns="0" tIns="0" rIns="0" bIns="0" rtlCol="0" anchor="t"/>
          <a:lstStyle/>
          <a:p>
            <a:pPr algn="l" marL="228600" indent="-228600">
              <a:lnSpc>
                <a:spcPts val="2025"/>
              </a:lnSpc>
              <a:buSzPct val="100000"/>
              <a:buChar char="•"/>
            </a:pPr>
            <a:r>
              <a:rPr lang="en-US" sz="1350" dirty="0">
                <a:solidFill>
                  <a:srgbClr val="D7F5DD"/>
                </a:solidFill>
                <a:latin typeface="IBM Plex Sans" pitchFamily="34" charset="0"/>
                <a:ea typeface="IBM Plex Sans" pitchFamily="34" charset="-122"/>
                <a:cs typeface="IBM Plex Sans" pitchFamily="34" charset="-120"/>
              </a:rPr>
              <a:t>Does the policy allow exactly what the built app needs, and no more?</a:t>
            </a:r>
            <a:endParaRPr lang="en-US" sz="1350" dirty="0"/>
          </a:p>
          <a:p>
            <a:pPr algn="l" marL="228600" indent="-228600">
              <a:lnSpc>
                <a:spcPts val="2025"/>
              </a:lnSpc>
              <a:buSzPct val="100000"/>
              <a:buChar char="•"/>
            </a:pPr>
            <a:r>
              <a:rPr lang="en-US" sz="1350" dirty="0">
                <a:solidFill>
                  <a:srgbClr val="D7F5DD"/>
                </a:solidFill>
                <a:latin typeface="IBM Plex Sans" pitchFamily="34" charset="0"/>
                <a:ea typeface="IBM Plex Sans" pitchFamily="34" charset="-122"/>
                <a:cs typeface="IBM Plex Sans" pitchFamily="34" charset="-120"/>
              </a:rPr>
              <a:t>Can a crafted backup file reach anything dangerous through the sanitiser?</a:t>
            </a:r>
            <a:endParaRPr lang="en-US" sz="1350" dirty="0"/>
          </a:p>
          <a:p>
            <a:pPr algn="l" marL="228600" indent="-228600">
              <a:lnSpc>
                <a:spcPts val="2025"/>
              </a:lnSpc>
              <a:buSzPct val="100000"/>
              <a:buChar char="•"/>
            </a:pPr>
            <a:r>
              <a:rPr lang="en-US" sz="1350" dirty="0">
                <a:solidFill>
                  <a:srgbClr val="D7F5DD"/>
                </a:solidFill>
                <a:latin typeface="IBM Plex Sans" pitchFamily="34" charset="0"/>
                <a:ea typeface="IBM Plex Sans" pitchFamily="34" charset="-122"/>
                <a:cs typeface="IBM Plex Sans" pitchFamily="34" charset="-120"/>
              </a:rPr>
              <a:t>Can a pull request from a fork reach the deploy job or its secrets?</a:t>
            </a:r>
            <a:endParaRPr lang="en-US" sz="1350" dirty="0"/>
          </a:p>
          <a:p>
            <a:pPr algn="l" marL="228600" indent="-228600">
              <a:lnSpc>
                <a:spcPts val="2025"/>
              </a:lnSpc>
              <a:buSzPct val="100000"/>
              <a:buChar char="•"/>
            </a:pPr>
            <a:r>
              <a:rPr lang="en-US" sz="1350" dirty="0">
                <a:solidFill>
                  <a:srgbClr val="D7F5DD"/>
                </a:solidFill>
                <a:latin typeface="IBM Plex Sans" pitchFamily="34" charset="0"/>
                <a:ea typeface="IBM Plex Sans" pitchFamily="34" charset="-122"/>
                <a:cs typeface="IBM Plex Sans" pitchFamily="34" charset="-120"/>
              </a:rPr>
              <a:t>Does the deploy upload the build that was tested, and nothing else?</a:t>
            </a:r>
            <a:endParaRPr lang="en-US" sz="1350" dirty="0"/>
          </a:p>
        </p:txBody>
      </p:sp>
      <p:sp>
        <p:nvSpPr>
          <p:cNvPr id="7" name="Shape 5"/>
          <p:cNvSpPr/>
          <p:nvPr/>
        </p:nvSpPr>
        <p:spPr>
          <a:xfrm>
            <a:off x="6191235" y="2020486"/>
            <a:ext cx="5187937" cy="3140067"/>
          </a:xfrm>
          <a:prstGeom prst="roundRect">
            <a:avLst>
              <a:gd name="adj" fmla="val 2427"/>
            </a:avLst>
          </a:prstGeom>
          <a:solidFill>
            <a:srgbClr val="111812"/>
          </a:solidFill>
          <a:ln w="12700">
            <a:solidFill>
              <a:srgbClr val="39FF88"/>
            </a:solidFill>
            <a:prstDash val="solid"/>
          </a:ln>
        </p:spPr>
      </p:sp>
      <p:sp>
        <p:nvSpPr>
          <p:cNvPr id="8" name="Text 6"/>
          <p:cNvSpPr/>
          <p:nvPr/>
        </p:nvSpPr>
        <p:spPr>
          <a:xfrm>
            <a:off x="6457934" y="2287185"/>
            <a:ext cx="4705338"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JetBrains Mono" pitchFamily="34" charset="0"/>
                <a:ea typeface="JetBrains Mono" pitchFamily="34" charset="-122"/>
                <a:cs typeface="JetBrains Mono" pitchFamily="34" charset="-120"/>
              </a:rPr>
              <a:t>what it found</a:t>
            </a:r>
            <a:endParaRPr lang="en-US" sz="1400" dirty="0"/>
          </a:p>
        </p:txBody>
      </p:sp>
      <p:sp>
        <p:nvSpPr>
          <p:cNvPr id="9" name="Text 7"/>
          <p:cNvSpPr/>
          <p:nvPr/>
        </p:nvSpPr>
        <p:spPr>
          <a:xfrm>
            <a:off x="6457934" y="2623734"/>
            <a:ext cx="4705338" cy="266699"/>
          </a:xfrm>
          <a:prstGeom prst="rect">
            <a:avLst/>
          </a:prstGeom>
          <a:noFill/>
          <a:ln/>
        </p:spPr>
        <p:txBody>
          <a:bodyPr wrap="square" lIns="0" tIns="0" rIns="0" bIns="0" rtlCol="0" anchor="t"/>
          <a:lstStyle/>
          <a:p>
            <a:pPr algn="l" indent="0" marL="0">
              <a:lnSpc>
                <a:spcPts val="2100"/>
              </a:lnSpc>
              <a:buNone/>
            </a:pPr>
            <a:r>
              <a:rPr lang="en-US" sz="1500" b="1" dirty="0">
                <a:solidFill>
                  <a:srgbClr val="F4F6F1"/>
                </a:solidFill>
                <a:latin typeface="IBM Plex Sans" pitchFamily="34" charset="0"/>
                <a:ea typeface="IBM Plex Sans" pitchFamily="34" charset="-122"/>
                <a:cs typeface="IBM Plex Sans" pitchFamily="34" charset="-120"/>
              </a:rPr>
              <a:t>No exploitable issue.</a:t>
            </a:r>
            <a:endParaRPr lang="en-US" sz="1500" dirty="0"/>
          </a:p>
        </p:txBody>
      </p:sp>
      <p:sp>
        <p:nvSpPr>
          <p:cNvPr id="10" name="Text 8"/>
          <p:cNvSpPr/>
          <p:nvPr/>
        </p:nvSpPr>
        <p:spPr>
          <a:xfrm>
            <a:off x="6457934" y="2992033"/>
            <a:ext cx="4705338" cy="1028697"/>
          </a:xfrm>
          <a:prstGeom prst="rect">
            <a:avLst/>
          </a:prstGeom>
          <a:noFill/>
          <a:ln/>
        </p:spPr>
        <p:txBody>
          <a:bodyPr wrap="square" lIns="0" tIns="0" rIns="0" bIns="0" rtlCol="0" anchor="t"/>
          <a:lstStyle/>
          <a:p>
            <a:pPr algn="l" indent="0" marL="0">
              <a:lnSpc>
                <a:spcPts val="2025"/>
              </a:lnSpc>
              <a:buNone/>
            </a:pPr>
            <a:r>
              <a:rPr lang="en-US" sz="1350" dirty="0">
                <a:solidFill>
                  <a:srgbClr val="D7F5DD"/>
                </a:solidFill>
                <a:latin typeface="IBM Plex Sans" pitchFamily="34" charset="0"/>
                <a:ea typeface="IBM Plex Sans" pitchFamily="34" charset="-122"/>
                <a:cs typeface="IBM Plex Sans" pitchFamily="34" charset="-120"/>
              </a:rPr>
              <a:t>Observations, each with a reason it was not a finding: actions pinned by version rather than commit, no required reviewers on the deploy, no violation reporting. All noted in the deployment guide.</a:t>
            </a:r>
            <a:endParaRPr lang="en-US" sz="1350" dirty="0"/>
          </a:p>
        </p:txBody>
      </p:sp>
      <p:sp>
        <p:nvSpPr>
          <p:cNvPr id="11" name="Text 9"/>
          <p:cNvSpPr/>
          <p:nvPr/>
        </p:nvSpPr>
        <p:spPr>
          <a:xfrm>
            <a:off x="6457934" y="4122330"/>
            <a:ext cx="4705338" cy="771523"/>
          </a:xfrm>
          <a:prstGeom prst="rect">
            <a:avLst/>
          </a:prstGeom>
          <a:noFill/>
          <a:ln/>
        </p:spPr>
        <p:txBody>
          <a:bodyPr wrap="square" lIns="0" tIns="0" rIns="0" bIns="0" rtlCol="0" anchor="t"/>
          <a:lstStyle/>
          <a:p>
            <a:pPr algn="l" indent="0" marL="0">
              <a:lnSpc>
                <a:spcPts val="2025"/>
              </a:lnSpc>
              <a:buNone/>
            </a:pPr>
            <a:r>
              <a:rPr lang="en-US" sz="1350" dirty="0">
                <a:solidFill>
                  <a:srgbClr val="D7F5DD"/>
                </a:solidFill>
                <a:latin typeface="IBM Plex Sans" pitchFamily="34" charset="0"/>
                <a:ea typeface="IBM Plex Sans" pitchFamily="34" charset="-122"/>
                <a:cs typeface="IBM Plex Sans" pitchFamily="34" charset="-120"/>
              </a:rPr>
              <a:t>One operational note acted on: two quick pushes to main would have cancelled a deploy in progress. Runs on main now queue instead.</a:t>
            </a:r>
            <a:endParaRPr lang="en-US" sz="1350" dirty="0"/>
          </a:p>
        </p:txBody>
      </p:sp>
      <p:sp>
        <p:nvSpPr>
          <p:cNvPr id="12" name="Text 10"/>
          <p:cNvSpPr/>
          <p:nvPr/>
        </p:nvSpPr>
        <p:spPr>
          <a:xfrm>
            <a:off x="812798" y="5414552"/>
            <a:ext cx="10617173" cy="248840"/>
          </a:xfrm>
          <a:prstGeom prst="rect">
            <a:avLst/>
          </a:prstGeom>
          <a:noFill/>
          <a:ln/>
        </p:spPr>
        <p:txBody>
          <a:bodyPr wrap="square" lIns="0" tIns="0" rIns="0" bIns="0" rtlCol="0" anchor="t"/>
          <a:lstStyle/>
          <a:p>
            <a:pPr algn="l" indent="0" marL="0">
              <a:lnSpc>
                <a:spcPts val="1960"/>
              </a:lnSpc>
              <a:buNone/>
            </a:pPr>
            <a:r>
              <a:rPr lang="en-US" sz="1400" dirty="0">
                <a:solidFill>
                  <a:srgbClr val="A9C9B3"/>
                </a:solidFill>
                <a:latin typeface="IBM Plex Sans" pitchFamily="34" charset="0"/>
                <a:ea typeface="IBM Plex Sans" pitchFamily="34" charset="-122"/>
                <a:cs typeface="IBM Plex Sans" pitchFamily="34" charset="-120"/>
              </a:rPr>
              <a:t>Two passes: find candidates, then an adversarial pass that throws out false positives.</a:t>
            </a:r>
            <a:endParaRPr lang="en-US" sz="1400" dirty="0"/>
          </a:p>
        </p:txBody>
      </p:sp>
      <p:sp>
        <p:nvSpPr>
          <p:cNvPr id="13" name="Text 11"/>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4 · production grade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THE DEPLOY</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Two free ways to go live</a:t>
            </a:r>
            <a:endParaRPr lang="en-US" sz="3600" dirty="0"/>
          </a:p>
        </p:txBody>
      </p:sp>
      <p:sp>
        <p:nvSpPr>
          <p:cNvPr id="4" name="Shape 2"/>
          <p:cNvSpPr/>
          <p:nvPr/>
        </p:nvSpPr>
        <p:spPr>
          <a:xfrm>
            <a:off x="812798" y="2020486"/>
            <a:ext cx="5187937" cy="2684059"/>
          </a:xfrm>
          <a:prstGeom prst="roundRect">
            <a:avLst>
              <a:gd name="adj" fmla="val 2839"/>
            </a:avLst>
          </a:prstGeom>
          <a:solidFill>
            <a:srgbClr val="16201A"/>
          </a:solidFill>
          <a:ln w="12700">
            <a:solidFill>
              <a:srgbClr val="39FF88"/>
            </a:solidFill>
            <a:prstDash val="solid"/>
          </a:ln>
        </p:spPr>
      </p:sp>
      <p:sp>
        <p:nvSpPr>
          <p:cNvPr id="5" name="Text 3"/>
          <p:cNvSpPr/>
          <p:nvPr/>
        </p:nvSpPr>
        <p:spPr>
          <a:xfrm>
            <a:off x="1079497" y="2287185"/>
            <a:ext cx="4705338"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JetBrains Mono" pitchFamily="34" charset="0"/>
                <a:ea typeface="JetBrains Mono" pitchFamily="34" charset="-122"/>
                <a:cs typeface="JetBrains Mono" pitchFamily="34" charset="-120"/>
              </a:rPr>
              <a:t>A · from the dashboard</a:t>
            </a:r>
            <a:endParaRPr lang="en-US" sz="1400" dirty="0"/>
          </a:p>
        </p:txBody>
      </p:sp>
      <p:sp>
        <p:nvSpPr>
          <p:cNvPr id="6" name="Text 4"/>
          <p:cNvSpPr/>
          <p:nvPr/>
        </p:nvSpPr>
        <p:spPr>
          <a:xfrm>
            <a:off x="1079497" y="2623734"/>
            <a:ext cx="4705338" cy="1285872"/>
          </a:xfrm>
          <a:prstGeom prst="rect">
            <a:avLst/>
          </a:prstGeom>
          <a:noFill/>
          <a:ln/>
        </p:spPr>
        <p:txBody>
          <a:bodyPr wrap="square" lIns="0" tIns="0" rIns="0" bIns="0" rtlCol="0" anchor="t"/>
          <a:lstStyle/>
          <a:p>
            <a:pPr algn="l" marL="228600" indent="-228600">
              <a:lnSpc>
                <a:spcPts val="2025"/>
              </a:lnSpc>
              <a:buSzPct val="100000"/>
              <a:buChar char="•"/>
            </a:pPr>
            <a:r>
              <a:rPr lang="en-US" sz="1350" dirty="0">
                <a:solidFill>
                  <a:srgbClr val="D7F5DD"/>
                </a:solidFill>
                <a:latin typeface="IBM Plex Sans" pitchFamily="34" charset="0"/>
                <a:ea typeface="IBM Plex Sans" pitchFamily="34" charset="-122"/>
                <a:cs typeface="IBM Plex Sans" pitchFamily="34" charset="-120"/>
              </a:rPr>
              <a:t>Connect the GitHub repo in Cloudflare Pages</a:t>
            </a:r>
            <a:endParaRPr lang="en-US" sz="1350" dirty="0"/>
          </a:p>
          <a:p>
            <a:pPr algn="l" marL="228600" indent="-228600">
              <a:lnSpc>
                <a:spcPts val="2025"/>
              </a:lnSpc>
              <a:buSzPct val="100000"/>
              <a:buChar char="•"/>
            </a:pPr>
            <a:r>
              <a:rPr lang="en-US" sz="1350" dirty="0">
                <a:solidFill>
                  <a:srgbClr val="D7F5DD"/>
                </a:solidFill>
                <a:latin typeface="IBM Plex Sans" pitchFamily="34" charset="0"/>
                <a:ea typeface="IBM Plex Sans" pitchFamily="34" charset="-122"/>
                <a:cs typeface="IBM Plex Sans" pitchFamily="34" charset="-120"/>
              </a:rPr>
              <a:t>Build command and output folder: two fields</a:t>
            </a:r>
            <a:endParaRPr lang="en-US" sz="1350" dirty="0"/>
          </a:p>
          <a:p>
            <a:pPr algn="l" marL="228600" indent="-228600">
              <a:lnSpc>
                <a:spcPts val="2025"/>
              </a:lnSpc>
              <a:buSzPct val="100000"/>
              <a:buChar char="•"/>
            </a:pPr>
            <a:r>
              <a:rPr lang="en-US" sz="1350" dirty="0">
                <a:solidFill>
                  <a:srgbClr val="D7F5DD"/>
                </a:solidFill>
                <a:latin typeface="IBM Plex Sans" pitchFamily="34" charset="0"/>
                <a:ea typeface="IBM Plex Sans" pitchFamily="34" charset="-122"/>
                <a:cs typeface="IBM Plex Sans" pitchFamily="34" charset="-120"/>
              </a:rPr>
              <a:t>Node version read from the repo</a:t>
            </a:r>
            <a:endParaRPr lang="en-US" sz="1350" dirty="0"/>
          </a:p>
          <a:p>
            <a:pPr algn="l" marL="228600" indent="-228600">
              <a:lnSpc>
                <a:spcPts val="2025"/>
              </a:lnSpc>
              <a:buSzPct val="100000"/>
              <a:buChar char="•"/>
            </a:pPr>
            <a:r>
              <a:rPr lang="en-US" sz="1350" dirty="0">
                <a:solidFill>
                  <a:srgbClr val="D7F5DD"/>
                </a:solidFill>
                <a:latin typeface="IBM Plex Sans" pitchFamily="34" charset="0"/>
                <a:ea typeface="IBM Plex Sans" pitchFamily="34" charset="-122"/>
                <a:cs typeface="IBM Plex Sans" pitchFamily="34" charset="-120"/>
              </a:rPr>
              <a:t>Every push to main deploys; every branch gets a preview address</a:t>
            </a:r>
            <a:endParaRPr lang="en-US" sz="1350" dirty="0"/>
          </a:p>
        </p:txBody>
      </p:sp>
      <p:sp>
        <p:nvSpPr>
          <p:cNvPr id="7" name="Text 5"/>
          <p:cNvSpPr/>
          <p:nvPr/>
        </p:nvSpPr>
        <p:spPr>
          <a:xfrm>
            <a:off x="1079497" y="4011206"/>
            <a:ext cx="4705338"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Simplest, and the most visual for a live session. Deploys whether or not the tests passed.</a:t>
            </a:r>
            <a:endParaRPr lang="en-US" sz="1200" dirty="0"/>
          </a:p>
        </p:txBody>
      </p:sp>
      <p:sp>
        <p:nvSpPr>
          <p:cNvPr id="8" name="Shape 6"/>
          <p:cNvSpPr/>
          <p:nvPr/>
        </p:nvSpPr>
        <p:spPr>
          <a:xfrm>
            <a:off x="6203934" y="2020486"/>
            <a:ext cx="5175237" cy="2684059"/>
          </a:xfrm>
          <a:prstGeom prst="roundRect">
            <a:avLst>
              <a:gd name="adj" fmla="val 2839"/>
            </a:avLst>
          </a:prstGeom>
          <a:solidFill>
            <a:srgbClr val="111812"/>
          </a:solidFill>
          <a:ln w="9525">
            <a:solidFill>
              <a:srgbClr val="24402C"/>
            </a:solidFill>
            <a:prstDash val="solid"/>
          </a:ln>
        </p:spPr>
      </p:sp>
      <p:sp>
        <p:nvSpPr>
          <p:cNvPr id="9" name="Text 7"/>
          <p:cNvSpPr/>
          <p:nvPr/>
        </p:nvSpPr>
        <p:spPr>
          <a:xfrm>
            <a:off x="6464284" y="2280835"/>
            <a:ext cx="4705338" cy="234949"/>
          </a:xfrm>
          <a:prstGeom prst="rect">
            <a:avLst/>
          </a:prstGeom>
          <a:noFill/>
          <a:ln/>
        </p:spPr>
        <p:txBody>
          <a:bodyPr wrap="square" lIns="0" tIns="0" rIns="0" bIns="0" rtlCol="0" anchor="t"/>
          <a:lstStyle/>
          <a:p>
            <a:pPr algn="l" indent="0" marL="0">
              <a:lnSpc>
                <a:spcPts val="1680"/>
              </a:lnSpc>
              <a:buNone/>
            </a:pPr>
            <a:r>
              <a:rPr lang="en-US" sz="1400" b="1" dirty="0">
                <a:solidFill>
                  <a:srgbClr val="86B394"/>
                </a:solidFill>
                <a:latin typeface="JetBrains Mono" pitchFamily="34" charset="0"/>
                <a:ea typeface="JetBrains Mono" pitchFamily="34" charset="-122"/>
                <a:cs typeface="JetBrains Mono" pitchFamily="34" charset="-120"/>
              </a:rPr>
              <a:t>B · from the pipeline</a:t>
            </a:r>
            <a:endParaRPr lang="en-US" sz="1400" dirty="0"/>
          </a:p>
        </p:txBody>
      </p:sp>
      <p:sp>
        <p:nvSpPr>
          <p:cNvPr id="10" name="Text 8"/>
          <p:cNvSpPr/>
          <p:nvPr/>
        </p:nvSpPr>
        <p:spPr>
          <a:xfrm>
            <a:off x="6464284" y="2617384"/>
            <a:ext cx="4705338" cy="1028697"/>
          </a:xfrm>
          <a:prstGeom prst="rect">
            <a:avLst/>
          </a:prstGeom>
          <a:noFill/>
          <a:ln/>
        </p:spPr>
        <p:txBody>
          <a:bodyPr wrap="square" lIns="0" tIns="0" rIns="0" bIns="0" rtlCol="0" anchor="t"/>
          <a:lstStyle/>
          <a:p>
            <a:pPr algn="l" marL="228600" indent="-228600">
              <a:lnSpc>
                <a:spcPts val="2025"/>
              </a:lnSpc>
              <a:buSzPct val="100000"/>
              <a:buChar char="•"/>
            </a:pPr>
            <a:r>
              <a:rPr lang="en-US" sz="1350" dirty="0">
                <a:solidFill>
                  <a:srgbClr val="D7F5DD"/>
                </a:solidFill>
                <a:latin typeface="IBM Plex Sans" pitchFamily="34" charset="0"/>
                <a:ea typeface="IBM Plex Sans" pitchFamily="34" charset="-122"/>
                <a:cs typeface="IBM Plex Sans" pitchFamily="34" charset="-120"/>
              </a:rPr>
              <a:t>Create the project once from the terminal</a:t>
            </a:r>
            <a:endParaRPr lang="en-US" sz="1350" dirty="0"/>
          </a:p>
          <a:p>
            <a:pPr algn="l" marL="228600" indent="-228600">
              <a:lnSpc>
                <a:spcPts val="2025"/>
              </a:lnSpc>
              <a:buSzPct val="100000"/>
              <a:buChar char="•"/>
            </a:pPr>
            <a:r>
              <a:rPr lang="en-US" sz="1350" dirty="0">
                <a:solidFill>
                  <a:srgbClr val="D7F5DD"/>
                </a:solidFill>
                <a:latin typeface="IBM Plex Sans" pitchFamily="34" charset="0"/>
                <a:ea typeface="IBM Plex Sans" pitchFamily="34" charset="-122"/>
                <a:cs typeface="IBM Plex Sans" pitchFamily="34" charset="-120"/>
              </a:rPr>
              <a:t>Two secrets in the GitHub repo: a token and an account id</a:t>
            </a:r>
            <a:endParaRPr lang="en-US" sz="1350" dirty="0"/>
          </a:p>
          <a:p>
            <a:pPr algn="l" marL="228600" indent="-228600">
              <a:lnSpc>
                <a:spcPts val="2025"/>
              </a:lnSpc>
              <a:buSzPct val="100000"/>
              <a:buChar char="•"/>
            </a:pPr>
            <a:r>
              <a:rPr lang="en-US" sz="1350" dirty="0">
                <a:solidFill>
                  <a:srgbClr val="D7F5DD"/>
                </a:solidFill>
                <a:latin typeface="IBM Plex Sans" pitchFamily="34" charset="0"/>
                <a:ea typeface="IBM Plex Sans" pitchFamily="34" charset="-122"/>
                <a:cs typeface="IBM Plex Sans" pitchFamily="34" charset="-120"/>
              </a:rPr>
              <a:t>The deploy job uploads the build the tests just ran against</a:t>
            </a:r>
            <a:endParaRPr lang="en-US" sz="1350" dirty="0"/>
          </a:p>
          <a:p>
            <a:pPr algn="l" marL="228600" indent="-228600">
              <a:lnSpc>
                <a:spcPts val="2025"/>
              </a:lnSpc>
              <a:buSzPct val="100000"/>
              <a:buChar char="•"/>
            </a:pPr>
            <a:r>
              <a:rPr lang="en-US" sz="1350" dirty="0">
                <a:solidFill>
                  <a:srgbClr val="D7F5DD"/>
                </a:solidFill>
                <a:latin typeface="IBM Plex Sans" pitchFamily="34" charset="0"/>
                <a:ea typeface="IBM Plex Sans" pitchFamily="34" charset="-122"/>
                <a:cs typeface="IBM Plex Sans" pitchFamily="34" charset="-120"/>
              </a:rPr>
              <a:t>Deploys only when everything before it is green</a:t>
            </a:r>
            <a:endParaRPr lang="en-US" sz="1350" dirty="0"/>
          </a:p>
        </p:txBody>
      </p:sp>
      <p:sp>
        <p:nvSpPr>
          <p:cNvPr id="11" name="Text 9"/>
          <p:cNvSpPr/>
          <p:nvPr/>
        </p:nvSpPr>
        <p:spPr>
          <a:xfrm>
            <a:off x="6464284" y="3747681"/>
            <a:ext cx="4705338"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The production-grade route. The job skips itself until the secrets exist, so both can coexist safely.</a:t>
            </a:r>
            <a:endParaRPr lang="en-US" sz="1200" dirty="0"/>
          </a:p>
        </p:txBody>
      </p:sp>
      <p:sp>
        <p:nvSpPr>
          <p:cNvPr id="12" name="Shape 10"/>
          <p:cNvSpPr/>
          <p:nvPr/>
        </p:nvSpPr>
        <p:spPr>
          <a:xfrm>
            <a:off x="812798" y="4958544"/>
            <a:ext cx="10566374" cy="667939"/>
          </a:xfrm>
          <a:prstGeom prst="roundRect">
            <a:avLst>
              <a:gd name="adj" fmla="val 11408"/>
            </a:avLst>
          </a:prstGeom>
          <a:solidFill>
            <a:srgbClr val="111812"/>
          </a:solidFill>
          <a:ln w="9525">
            <a:solidFill>
              <a:srgbClr val="24402C"/>
            </a:solidFill>
            <a:prstDash val="solid"/>
          </a:ln>
        </p:spPr>
      </p:sp>
      <p:sp>
        <p:nvSpPr>
          <p:cNvPr id="13" name="Text 11"/>
          <p:cNvSpPr/>
          <p:nvPr/>
        </p:nvSpPr>
        <p:spPr>
          <a:xfrm>
            <a:off x="1073147" y="5175039"/>
            <a:ext cx="904277" cy="234949"/>
          </a:xfrm>
          <a:prstGeom prst="rect">
            <a:avLst/>
          </a:prstGeom>
          <a:noFill/>
          <a:ln/>
        </p:spPr>
        <p:txBody>
          <a:bodyPr wrap="square" lIns="0" tIns="0" rIns="0" bIns="0" rtlCol="0" anchor="t"/>
          <a:lstStyle/>
          <a:p>
            <a:pPr algn="l" indent="0" marL="0">
              <a:lnSpc>
                <a:spcPts val="1680"/>
              </a:lnSpc>
              <a:buNone/>
            </a:pPr>
            <a:r>
              <a:rPr lang="en-US" sz="1400" dirty="0">
                <a:solidFill>
                  <a:srgbClr val="39FF88"/>
                </a:solidFill>
                <a:latin typeface="JetBrains Mono" pitchFamily="34" charset="0"/>
                <a:ea typeface="JetBrains Mono" pitchFamily="34" charset="-122"/>
                <a:cs typeface="JetBrains Mono" pitchFamily="34" charset="-120"/>
              </a:rPr>
              <a:t>rollback</a:t>
            </a:r>
            <a:endParaRPr lang="en-US" sz="1400" dirty="0"/>
          </a:p>
        </p:txBody>
      </p:sp>
      <p:sp>
        <p:nvSpPr>
          <p:cNvPr id="14" name="Text 12"/>
          <p:cNvSpPr/>
          <p:nvPr/>
        </p:nvSpPr>
        <p:spPr>
          <a:xfrm>
            <a:off x="2079024" y="5168093"/>
            <a:ext cx="5653867" cy="248840"/>
          </a:xfrm>
          <a:prstGeom prst="rect">
            <a:avLst/>
          </a:prstGeom>
          <a:noFill/>
          <a:ln/>
        </p:spPr>
        <p:txBody>
          <a:bodyPr wrap="square" lIns="0" tIns="0" rIns="0" bIns="0" rtlCol="0" anchor="t"/>
          <a:lstStyle/>
          <a:p>
            <a:pPr algn="l" indent="0" marL="0">
              <a:lnSpc>
                <a:spcPts val="1960"/>
              </a:lnSpc>
              <a:buNone/>
            </a:pPr>
            <a:r>
              <a:rPr lang="en-US" sz="1400" dirty="0">
                <a:solidFill>
                  <a:srgbClr val="D7F5DD"/>
                </a:solidFill>
                <a:latin typeface="IBM Plex Sans" pitchFamily="34" charset="0"/>
                <a:ea typeface="IBM Plex Sans" pitchFamily="34" charset="-122"/>
                <a:cs typeface="IBM Plex Sans" pitchFamily="34" charset="-120"/>
              </a:rPr>
              <a:t>Every deployment is kept. One click restores an earlier one, no rebuild.</a:t>
            </a:r>
            <a:endParaRPr lang="en-US" sz="1400" dirty="0"/>
          </a:p>
        </p:txBody>
      </p:sp>
      <p:sp>
        <p:nvSpPr>
          <p:cNvPr id="15" name="Text 13"/>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4 · production grade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WHAT EXISTS AT THE END OF PART 4</a:t>
            </a:r>
            <a:endParaRPr lang="en-US" sz="1200" dirty="0"/>
          </a:p>
        </p:txBody>
      </p:sp>
      <p:sp>
        <p:nvSpPr>
          <p:cNvPr id="3" name="Text 1"/>
          <p:cNvSpPr/>
          <p:nvPr/>
        </p:nvSpPr>
        <p:spPr>
          <a:xfrm>
            <a:off x="812798" y="1263647"/>
            <a:ext cx="10617173" cy="100567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Outputs, and what still needs your accounts</a:t>
            </a:r>
            <a:endParaRPr lang="en-US" sz="3600" dirty="0"/>
          </a:p>
        </p:txBody>
      </p:sp>
      <p:sp>
        <p:nvSpPr>
          <p:cNvPr id="4" name="Shape 2"/>
          <p:cNvSpPr/>
          <p:nvPr/>
        </p:nvSpPr>
        <p:spPr>
          <a:xfrm>
            <a:off x="812798" y="2523325"/>
            <a:ext cx="3382359" cy="2121986"/>
          </a:xfrm>
          <a:prstGeom prst="roundRect">
            <a:avLst>
              <a:gd name="adj" fmla="val 3591"/>
            </a:avLst>
          </a:prstGeom>
          <a:solidFill>
            <a:srgbClr val="111812"/>
          </a:solidFill>
          <a:ln w="9525">
            <a:solidFill>
              <a:srgbClr val="24402C"/>
            </a:solidFill>
            <a:prstDash val="solid"/>
          </a:ln>
        </p:spPr>
      </p:sp>
      <p:sp>
        <p:nvSpPr>
          <p:cNvPr id="5" name="Text 3"/>
          <p:cNvSpPr/>
          <p:nvPr/>
        </p:nvSpPr>
        <p:spPr>
          <a:xfrm>
            <a:off x="1047747" y="2758274"/>
            <a:ext cx="2963260" cy="558799"/>
          </a:xfrm>
          <a:prstGeom prst="rect">
            <a:avLst/>
          </a:prstGeom>
          <a:noFill/>
          <a:ln/>
        </p:spPr>
        <p:txBody>
          <a:bodyPr wrap="square" lIns="0" tIns="0" rIns="0" bIns="0" rtlCol="0" anchor="t"/>
          <a:lstStyle/>
          <a:p>
            <a:pPr algn="l" indent="0" marL="0">
              <a:lnSpc>
                <a:spcPts val="4400"/>
              </a:lnSpc>
              <a:buNone/>
            </a:pPr>
            <a:r>
              <a:rPr lang="en-US" sz="4400" b="1" dirty="0">
                <a:solidFill>
                  <a:srgbClr val="39FF88"/>
                </a:solidFill>
                <a:latin typeface="JetBrains Mono" pitchFamily="34" charset="0"/>
                <a:ea typeface="JetBrains Mono" pitchFamily="34" charset="-122"/>
                <a:cs typeface="JetBrains Mono" pitchFamily="34" charset="-120"/>
              </a:rPr>
              <a:t>111</a:t>
            </a:r>
            <a:endParaRPr lang="en-US" sz="4400" dirty="0"/>
          </a:p>
        </p:txBody>
      </p:sp>
      <p:sp>
        <p:nvSpPr>
          <p:cNvPr id="6" name="Text 4"/>
          <p:cNvSpPr/>
          <p:nvPr/>
        </p:nvSpPr>
        <p:spPr>
          <a:xfrm>
            <a:off x="1047747" y="3393273"/>
            <a:ext cx="2963260"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tests, zero advisories</a:t>
            </a:r>
            <a:endParaRPr lang="en-US" sz="1500" dirty="0"/>
          </a:p>
        </p:txBody>
      </p:sp>
      <p:sp>
        <p:nvSpPr>
          <p:cNvPr id="7" name="Text 5"/>
          <p:cNvSpPr/>
          <p:nvPr/>
        </p:nvSpPr>
        <p:spPr>
          <a:xfrm>
            <a:off x="1047747" y="3717122"/>
            <a:ext cx="2963260" cy="69324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Typecheck, unit, contract, end to end, build and audit, as one local command and as the pipeline.</a:t>
            </a:r>
            <a:endParaRPr lang="en-US" sz="1300" dirty="0"/>
          </a:p>
        </p:txBody>
      </p:sp>
      <p:sp>
        <p:nvSpPr>
          <p:cNvPr id="8" name="Shape 6"/>
          <p:cNvSpPr/>
          <p:nvPr/>
        </p:nvSpPr>
        <p:spPr>
          <a:xfrm>
            <a:off x="4398356" y="2523325"/>
            <a:ext cx="3382458" cy="2121986"/>
          </a:xfrm>
          <a:prstGeom prst="roundRect">
            <a:avLst>
              <a:gd name="adj" fmla="val 3591"/>
            </a:avLst>
          </a:prstGeom>
          <a:solidFill>
            <a:srgbClr val="111812"/>
          </a:solidFill>
          <a:ln w="9525">
            <a:solidFill>
              <a:srgbClr val="24402C"/>
            </a:solidFill>
            <a:prstDash val="solid"/>
          </a:ln>
        </p:spPr>
      </p:sp>
      <p:sp>
        <p:nvSpPr>
          <p:cNvPr id="9" name="Shape 7"/>
          <p:cNvSpPr/>
          <p:nvPr/>
        </p:nvSpPr>
        <p:spPr>
          <a:xfrm>
            <a:off x="4633306" y="2834474"/>
            <a:ext cx="152400" cy="152400"/>
          </a:xfrm>
          <a:prstGeom prst="roundRect">
            <a:avLst>
              <a:gd name="adj" fmla="val 25000"/>
            </a:avLst>
          </a:prstGeom>
          <a:solidFill>
            <a:srgbClr val="39FF88"/>
          </a:solidFill>
          <a:ln/>
        </p:spPr>
      </p:sp>
      <p:sp>
        <p:nvSpPr>
          <p:cNvPr id="10" name="Text 8"/>
          <p:cNvSpPr/>
          <p:nvPr/>
        </p:nvSpPr>
        <p:spPr>
          <a:xfrm>
            <a:off x="4633306" y="3139273"/>
            <a:ext cx="2963359"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A deployment guide</a:t>
            </a:r>
            <a:endParaRPr lang="en-US" sz="1500" dirty="0"/>
          </a:p>
        </p:txBody>
      </p:sp>
      <p:sp>
        <p:nvSpPr>
          <p:cNvPr id="11" name="Text 9"/>
          <p:cNvSpPr/>
          <p:nvPr/>
        </p:nvSpPr>
        <p:spPr>
          <a:xfrm>
            <a:off x="4633306" y="3463123"/>
            <a:ext cx="2963359" cy="92432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The jobs, every header and why, both deploy routes, rollback, the review’s verdict, and what production does not change.</a:t>
            </a:r>
            <a:endParaRPr lang="en-US" sz="1300" dirty="0"/>
          </a:p>
        </p:txBody>
      </p:sp>
      <p:sp>
        <p:nvSpPr>
          <p:cNvPr id="12" name="Shape 10"/>
          <p:cNvSpPr/>
          <p:nvPr/>
        </p:nvSpPr>
        <p:spPr>
          <a:xfrm>
            <a:off x="7984014" y="2523325"/>
            <a:ext cx="3395158" cy="2121986"/>
          </a:xfrm>
          <a:prstGeom prst="roundRect">
            <a:avLst>
              <a:gd name="adj" fmla="val 3591"/>
            </a:avLst>
          </a:prstGeom>
          <a:solidFill>
            <a:srgbClr val="16201A"/>
          </a:solidFill>
          <a:ln w="12700">
            <a:solidFill>
              <a:srgbClr val="FFB000"/>
            </a:solidFill>
            <a:prstDash val="solid"/>
          </a:ln>
        </p:spPr>
      </p:sp>
      <p:sp>
        <p:nvSpPr>
          <p:cNvPr id="13" name="Shape 11"/>
          <p:cNvSpPr/>
          <p:nvPr/>
        </p:nvSpPr>
        <p:spPr>
          <a:xfrm>
            <a:off x="8225313" y="2840824"/>
            <a:ext cx="152400" cy="152400"/>
          </a:xfrm>
          <a:prstGeom prst="roundRect">
            <a:avLst>
              <a:gd name="adj" fmla="val 25000"/>
            </a:avLst>
          </a:prstGeom>
          <a:solidFill>
            <a:srgbClr val="FFB000"/>
          </a:solidFill>
          <a:ln/>
        </p:spPr>
      </p:sp>
      <p:sp>
        <p:nvSpPr>
          <p:cNvPr id="14" name="Text 12"/>
          <p:cNvSpPr/>
          <p:nvPr/>
        </p:nvSpPr>
        <p:spPr>
          <a:xfrm>
            <a:off x="8225313" y="3145623"/>
            <a:ext cx="2963359"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Two steps need a human</a:t>
            </a:r>
            <a:endParaRPr lang="en-US" sz="1500" dirty="0"/>
          </a:p>
        </p:txBody>
      </p:sp>
      <p:sp>
        <p:nvSpPr>
          <p:cNvPr id="15" name="Text 13"/>
          <p:cNvSpPr/>
          <p:nvPr/>
        </p:nvSpPr>
        <p:spPr>
          <a:xfrm>
            <a:off x="8225313" y="3469473"/>
            <a:ext cx="2963359" cy="92432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Pushing the repo to GitHub and creating the Pages project are account actions. Everything up to them is committed and tagged.</a:t>
            </a:r>
            <a:endParaRPr lang="en-US" sz="1300" dirty="0"/>
          </a:p>
        </p:txBody>
      </p:sp>
      <p:sp>
        <p:nvSpPr>
          <p:cNvPr id="16" name="Shape 14"/>
          <p:cNvSpPr/>
          <p:nvPr/>
        </p:nvSpPr>
        <p:spPr>
          <a:xfrm>
            <a:off x="812798" y="4899310"/>
            <a:ext cx="10566374" cy="904079"/>
          </a:xfrm>
          <a:prstGeom prst="roundRect">
            <a:avLst>
              <a:gd name="adj" fmla="val 8428"/>
            </a:avLst>
          </a:prstGeom>
          <a:solidFill>
            <a:srgbClr val="0A7A3D"/>
          </a:solidFill>
          <a:ln/>
        </p:spPr>
      </p:sp>
      <p:sp>
        <p:nvSpPr>
          <p:cNvPr id="17" name="Text 15"/>
          <p:cNvSpPr/>
          <p:nvPr/>
        </p:nvSpPr>
        <p:spPr>
          <a:xfrm>
            <a:off x="1066797" y="5233875"/>
            <a:ext cx="477539" cy="234949"/>
          </a:xfrm>
          <a:prstGeom prst="rect">
            <a:avLst/>
          </a:prstGeom>
          <a:noFill/>
          <a:ln/>
        </p:spPr>
        <p:txBody>
          <a:bodyPr wrap="square" lIns="0" tIns="0" rIns="0" bIns="0" rtlCol="0" anchor="t"/>
          <a:lstStyle/>
          <a:p>
            <a:pPr algn="l" indent="0" marL="0">
              <a:lnSpc>
                <a:spcPts val="1680"/>
              </a:lnSpc>
              <a:buNone/>
            </a:pPr>
            <a:r>
              <a:rPr lang="en-US" sz="1400" dirty="0">
                <a:solidFill>
                  <a:srgbClr val="F4F6F1"/>
                </a:solidFill>
                <a:latin typeface="JetBrains Mono" pitchFamily="34" charset="0"/>
                <a:ea typeface="JetBrains Mono" pitchFamily="34" charset="-122"/>
                <a:cs typeface="JetBrains Mono" pitchFamily="34" charset="-120"/>
              </a:rPr>
              <a:t>done</a:t>
            </a:r>
            <a:endParaRPr lang="en-US" sz="1400" dirty="0"/>
          </a:p>
        </p:txBody>
      </p:sp>
      <p:sp>
        <p:nvSpPr>
          <p:cNvPr id="18" name="Text 16"/>
          <p:cNvSpPr/>
          <p:nvPr/>
        </p:nvSpPr>
        <p:spPr>
          <a:xfrm>
            <a:off x="1645936" y="5102510"/>
            <a:ext cx="9530036" cy="497680"/>
          </a:xfrm>
          <a:prstGeom prst="rect">
            <a:avLst/>
          </a:prstGeom>
          <a:noFill/>
          <a:ln/>
        </p:spPr>
        <p:txBody>
          <a:bodyPr wrap="square" lIns="0" tIns="0" rIns="0" bIns="0" rtlCol="0" anchor="t"/>
          <a:lstStyle/>
          <a:p>
            <a:pPr algn="l" indent="0" marL="0">
              <a:lnSpc>
                <a:spcPts val="1960"/>
              </a:lnSpc>
              <a:buNone/>
            </a:pPr>
            <a:r>
              <a:rPr lang="en-US" sz="1400" dirty="0">
                <a:solidFill>
                  <a:srgbClr val="F4F6F1"/>
                </a:solidFill>
                <a:latin typeface="IBM Plex Sans" pitchFamily="34" charset="0"/>
                <a:ea typeface="IBM Plex Sans" pitchFamily="34" charset="-122"/>
                <a:cs typeface="IBM Plex Sans" pitchFamily="34" charset="-120"/>
              </a:rPr>
              <a:t>Designed, built, tested, hardened and deployable, in four sittings, with the design, the tests and the pipeline all written by the same tool that wrote the code. Tag: part-4-prod.</a:t>
            </a:r>
            <a:endParaRPr lang="en-US" sz="1400" dirty="0"/>
          </a:p>
        </p:txBody>
      </p:sp>
      <p:sp>
        <p:nvSpPr>
          <p:cNvPr id="19" name="Text 17"/>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4 · production grade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Levio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4: Production Grade</dc:title>
  <dc:subject>PptxGenJS Presentation</dc:subject>
  <dc:creator>PptxGenJS</dc:creator>
  <cp:lastModifiedBy>PptxGenJS</cp:lastModifiedBy>
  <cp:revision>1</cp:revision>
  <dcterms:created xsi:type="dcterms:W3CDTF">2026-10-29T18:55:36Z</dcterms:created>
  <dcterms:modified xsi:type="dcterms:W3CDTF">2026-10-29T18:55:36Z</dcterms:modified>
</cp:coreProperties>
</file>